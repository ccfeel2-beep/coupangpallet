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380" r:id="rId2"/>
    <p:sldId id="386" r:id="rId3"/>
    <p:sldId id="387" r:id="rId4"/>
    <p:sldId id="381" r:id="rId5"/>
    <p:sldId id="382" r:id="rId6"/>
    <p:sldId id="383" r:id="rId7"/>
  </p:sldIdLst>
  <p:sldSz cx="12192000" cy="6858000"/>
  <p:notesSz cx="6858000" cy="994568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yung Sup Shin [ICQA]" initials="MSS[" lastIdx="1" clrIdx="0">
    <p:extLst>
      <p:ext uri="{19B8F6BF-5375-455C-9EA6-DF929625EA0E}">
        <p15:presenceInfo xmlns:p15="http://schemas.microsoft.com/office/powerpoint/2012/main" userId="0ab1c5fc-b091-4ed8-ba00-c094cdecdce7" providerId="Windows Live"/>
      </p:ext>
    </p:extLst>
  </p:cmAuthor>
  <p:cmAuthor id="2" name="봉섭 심" initials="봉심" lastIdx="3" clrIdx="1">
    <p:extLst>
      <p:ext uri="{19B8F6BF-5375-455C-9EA6-DF929625EA0E}">
        <p15:presenceInfo xmlns:p15="http://schemas.microsoft.com/office/powerpoint/2012/main" userId="7d0292431a0b4b0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 horzBarState="maximized">
    <p:restoredLeft sz="0" autoAdjust="0"/>
    <p:restoredTop sz="95749" autoAdjust="0"/>
  </p:normalViewPr>
  <p:slideViewPr>
    <p:cSldViewPr snapToGrid="0" snapToObjects="1">
      <p:cViewPr>
        <p:scale>
          <a:sx n="66" d="100"/>
          <a:sy n="66" d="100"/>
        </p:scale>
        <p:origin x="2874" y="9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90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90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A64512-346F-448F-A8AE-8FB9DF66476E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1243013"/>
            <a:ext cx="5969000" cy="33575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6678"/>
            <a:ext cx="2971800" cy="4990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9446678"/>
            <a:ext cx="2971800" cy="4990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4F514F-0191-46BE-95B7-1877F2E45E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3655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CC3DA7-B040-6347-A7E1-3FD7994BB7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EFB807-2FAD-B342-AB13-C61FBCC2D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15A7DB-826D-F24A-B129-3BDDC8529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6E93C-0E58-5246-B3A4-0F98F8344643}" type="datetimeFigureOut">
              <a:rPr kumimoji="1" lang="ko-KR" altLang="en-US" smtClean="0"/>
              <a:t>2026-10-27</a:t>
            </a:fld>
            <a:endParaRPr kumimoji="1"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9186C6-26ED-F944-9FE4-226CE49EB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F4D595-271C-974B-98E5-7D0A76161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5D9C-C43E-8544-984B-1DC8DABBC156}" type="slidenum">
              <a:rPr kumimoji="1" lang="ko-KR" altLang="en-US" smtClean="0"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0629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0B1561-01AE-4A4D-957D-BACD0C559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BAF3ED-5EDD-F545-BE52-7771C888E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CE07E1-88F8-644F-B0AD-E570239A1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6E93C-0E58-5246-B3A4-0F98F8344643}" type="datetimeFigureOut">
              <a:rPr kumimoji="1" lang="ko-KR" altLang="en-US" smtClean="0"/>
              <a:t>2026-10-27</a:t>
            </a:fld>
            <a:endParaRPr kumimoji="1"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77AE39-92B8-F143-B944-EC030554A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C174F2-7DD0-DB42-9B5C-7FC3331A8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5D9C-C43E-8544-984B-1DC8DABBC156}" type="slidenum">
              <a:rPr kumimoji="1" lang="ko-KR" altLang="en-US" smtClean="0"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30841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711173-582E-FD49-8D9F-96A220958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EA3577A-DD97-5B4C-81C9-9486410519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34E900-4C68-5441-8502-CAF30CCAE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6E93C-0E58-5246-B3A4-0F98F8344643}" type="datetimeFigureOut">
              <a:rPr kumimoji="1" lang="ko-KR" altLang="en-US" smtClean="0"/>
              <a:t>2026-10-27</a:t>
            </a:fld>
            <a:endParaRPr kumimoji="1"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1C11DE-4FC5-FE42-A8CF-310077B11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A5712C-7CA2-FE4A-B8D1-C154F15B8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5D9C-C43E-8544-984B-1DC8DABBC156}" type="slidenum">
              <a:rPr kumimoji="1" lang="ko-KR" altLang="en-US" smtClean="0"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7759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278AF3-1631-454B-9221-C3E1520DF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634A41-9708-254B-9741-2BE5EFAD4C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E184BD4-C523-C847-8564-120937172E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00BE755-2E65-B141-870E-8E4E10E02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6E93C-0E58-5246-B3A4-0F98F8344643}" type="datetimeFigureOut">
              <a:rPr kumimoji="1" lang="ko-KR" altLang="en-US" smtClean="0"/>
              <a:t>2026-10-27</a:t>
            </a:fld>
            <a:endParaRPr kumimoji="1"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4602AEA-1C6F-074E-BC6E-F3430102E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7A6458A-A296-064B-B033-D8970CF1A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5D9C-C43E-8544-984B-1DC8DABBC156}" type="slidenum">
              <a:rPr kumimoji="1" lang="ko-KR" altLang="en-US" smtClean="0"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21540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15BDF2-EA14-814B-9E83-0F1BE42FC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E8B6549-0D5C-AF49-B475-64178568AA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985A03A-3674-FE47-BE1A-9CD79C6791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073E7D6-1A54-1747-8B4F-F9F26B4F30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44507CE-3513-E243-980E-AE037ECE5B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6833E79-BB11-8C45-A876-B2845653B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6E93C-0E58-5246-B3A4-0F98F8344643}" type="datetimeFigureOut">
              <a:rPr kumimoji="1" lang="ko-KR" altLang="en-US" smtClean="0"/>
              <a:t>2026-10-27</a:t>
            </a:fld>
            <a:endParaRPr kumimoji="1"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369BC0E-9FC1-624C-AA08-924316150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42B9C3B-7830-BC4A-B6AF-29A87C344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5D9C-C43E-8544-984B-1DC8DABBC156}" type="slidenum">
              <a:rPr kumimoji="1" lang="ko-KR" altLang="en-US" smtClean="0"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67882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AD26D6-A2CE-2744-B82A-E7363E0CD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81E62AE-AAE8-B447-A577-8D117E435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6E93C-0E58-5246-B3A4-0F98F8344643}" type="datetimeFigureOut">
              <a:rPr kumimoji="1" lang="ko-KR" altLang="en-US" smtClean="0"/>
              <a:t>2026-10-27</a:t>
            </a:fld>
            <a:endParaRPr kumimoji="1"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A4D83D7-6017-784B-9182-4CB95FB8A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DF3BFEC-B6C2-0249-82D8-FD7F1AC71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5D9C-C43E-8544-984B-1DC8DABBC156}" type="slidenum">
              <a:rPr kumimoji="1" lang="ko-KR" altLang="en-US" smtClean="0"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4887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4BB31C4-8BA3-EB4E-819D-DAD5A8BCB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6E93C-0E58-5246-B3A4-0F98F8344643}" type="datetimeFigureOut">
              <a:rPr kumimoji="1" lang="ko-KR" altLang="en-US" smtClean="0"/>
              <a:t>2026-10-27</a:t>
            </a:fld>
            <a:endParaRPr kumimoji="1"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348C1-6DE9-5540-9042-CBEB8868A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FA3738-6C13-7B49-9683-3E3FEE34B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5D9C-C43E-8544-984B-1DC8DABBC156}" type="slidenum">
              <a:rPr kumimoji="1" lang="ko-KR" altLang="en-US" smtClean="0"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54025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D9AC74-E9BC-EA4B-88B4-63478B4F1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D6A5AC-770B-8F49-A344-8050CFDC5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6C5B734-AB62-1C45-9344-BDAB33BFAA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0C0402-D878-D842-9FAA-81BCEBA17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6E93C-0E58-5246-B3A4-0F98F8344643}" type="datetimeFigureOut">
              <a:rPr kumimoji="1" lang="ko-KR" altLang="en-US" smtClean="0"/>
              <a:t>2026-10-27</a:t>
            </a:fld>
            <a:endParaRPr kumimoji="1"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56038A3-07BE-424F-9C39-A384817B8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149B0A5-7E82-F844-A9C4-6DD3015E4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5D9C-C43E-8544-984B-1DC8DABBC156}" type="slidenum">
              <a:rPr kumimoji="1" lang="ko-KR" altLang="en-US" smtClean="0"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29101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0141F5-35AE-4D42-8DA2-287E9EADB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DB35DBA-92B1-6347-A832-B0D662F2D7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461029F-8DC2-5341-9222-34E8863ABA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F0FC1D5-99AD-9D44-ACBE-8CED459AB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6E93C-0E58-5246-B3A4-0F98F8344643}" type="datetimeFigureOut">
              <a:rPr kumimoji="1" lang="ko-KR" altLang="en-US" smtClean="0"/>
              <a:t>2026-10-27</a:t>
            </a:fld>
            <a:endParaRPr kumimoji="1"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1E0135E-7472-C946-A998-951C1D6A1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4659E17-ABFD-ED40-94D3-4B04E18A0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5D9C-C43E-8544-984B-1DC8DABBC156}" type="slidenum">
              <a:rPr kumimoji="1" lang="ko-KR" altLang="en-US" smtClean="0"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66870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833BEB-1432-CA49-989F-71DE5AA83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AD1F8FF-D036-B046-9F57-C400268BEB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69AE92-3FE3-D240-B979-8643F0BE1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6E93C-0E58-5246-B3A4-0F98F8344643}" type="datetimeFigureOut">
              <a:rPr kumimoji="1" lang="ko-KR" altLang="en-US" smtClean="0"/>
              <a:t>2026-10-27</a:t>
            </a:fld>
            <a:endParaRPr kumimoji="1"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8F57C7-1B38-2046-BE85-500E49EA7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FF49AD-7604-1C42-B727-4EDDA0F60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5D9C-C43E-8544-984B-1DC8DABBC156}" type="slidenum">
              <a:rPr kumimoji="1" lang="ko-KR" altLang="en-US" smtClean="0"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4715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7B93AB4-9CC3-FE41-86A2-4800B3C360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EC49F46-A154-8040-B197-87BEAC4572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8025AD-BDF5-5549-9E17-0784B7AB1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6E93C-0E58-5246-B3A4-0F98F8344643}" type="datetimeFigureOut">
              <a:rPr kumimoji="1" lang="ko-KR" altLang="en-US" smtClean="0"/>
              <a:t>2026-10-27</a:t>
            </a:fld>
            <a:endParaRPr kumimoji="1"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FA5B7E-63D4-1548-9632-C4F835D7D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38343-7DC3-D842-B42E-EFC0D4634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5D9C-C43E-8544-984B-1DC8DABBC156}" type="slidenum">
              <a:rPr kumimoji="1" lang="ko-KR" altLang="en-US" smtClean="0"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50329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0AB2750-6CE4-0749-BBBE-1CD676AB3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434050-0A20-5946-BAA7-69702D73AC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B5ADD7-C0AC-F440-810A-19A9814D8D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96E93C-0E58-5246-B3A4-0F98F8344643}" type="datetimeFigureOut">
              <a:rPr kumimoji="1" lang="ko-KR" altLang="en-US" smtClean="0"/>
              <a:t>2026-10-27</a:t>
            </a:fld>
            <a:endParaRPr kumimoji="1"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36D381-1BCB-FA42-86D2-1069419F04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9891BE-5D36-0444-89A1-4490A4AA1C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F65D9C-C43E-8544-984B-1DC8DABBC156}" type="slidenum">
              <a:rPr kumimoji="1" lang="ko-KR" altLang="en-US" smtClean="0"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78552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F3369ED6-1A1B-AF46-852A-58227CDB3486}"/>
              </a:ext>
            </a:extLst>
          </p:cNvPr>
          <p:cNvSpPr/>
          <p:nvPr/>
        </p:nvSpPr>
        <p:spPr>
          <a:xfrm>
            <a:off x="1847528" y="664956"/>
            <a:ext cx="8496944" cy="59116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69911" y="100531"/>
            <a:ext cx="90521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u="sng" dirty="0"/>
              <a:t>쿠팡 파렛트 적재리스트 </a:t>
            </a:r>
            <a:r>
              <a:rPr lang="en-US" altLang="ko-KR" sz="2400" b="1" u="sng" dirty="0"/>
              <a:t>(</a:t>
            </a:r>
            <a:r>
              <a:rPr lang="ko-KR" altLang="en-US" sz="2400" b="1" u="sng" dirty="0"/>
              <a:t>신선</a:t>
            </a:r>
            <a:r>
              <a:rPr lang="en-US" altLang="ko-KR" sz="2400" b="1" u="sng" dirty="0"/>
              <a:t>)</a:t>
            </a:r>
            <a:endParaRPr lang="ko-KR" altLang="en-US" sz="2400" b="1" u="sn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0977E7-3DB8-A84B-96D5-7B9A79DAD807}"/>
              </a:ext>
            </a:extLst>
          </p:cNvPr>
          <p:cNvSpPr txBox="1"/>
          <p:nvPr/>
        </p:nvSpPr>
        <p:spPr>
          <a:xfrm>
            <a:off x="1991544" y="815468"/>
            <a:ext cx="80648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000" b="1" dirty="0"/>
              <a:t> </a:t>
            </a:r>
            <a:r>
              <a:rPr kumimoji="1" lang="ko-KR" altLang="en-US" sz="1400" b="1" dirty="0"/>
              <a:t> </a:t>
            </a:r>
            <a:r>
              <a:rPr kumimoji="1" lang="en-US" altLang="ko-KR" sz="1400" b="1" dirty="0"/>
              <a:t>6</a:t>
            </a:r>
            <a:r>
              <a:rPr kumimoji="1" lang="ko-KR" altLang="en-US" sz="1400" b="1" dirty="0"/>
              <a:t> </a:t>
            </a:r>
            <a:r>
              <a:rPr kumimoji="1" lang="en-US" altLang="ko-KR" sz="2000" b="1" dirty="0"/>
              <a:t>-</a:t>
            </a:r>
            <a:r>
              <a:rPr kumimoji="1" lang="ko-KR" altLang="en-US" sz="1400" b="1" dirty="0"/>
              <a:t> </a:t>
            </a:r>
            <a:r>
              <a:rPr kumimoji="1" lang="en-US" altLang="ko-KR" sz="1400" b="1" dirty="0"/>
              <a:t>1</a:t>
            </a:r>
            <a:r>
              <a:rPr kumimoji="1" lang="ko-KR" altLang="en-US" sz="1400" b="1" dirty="0"/>
              <a:t>                     </a:t>
            </a:r>
            <a:r>
              <a:rPr kumimoji="1" lang="en-US" altLang="ko-KR" sz="2000" b="1" dirty="0"/>
              <a:t>/</a:t>
            </a:r>
            <a:r>
              <a:rPr kumimoji="1" lang="ko-KR" altLang="en-US" sz="2000" b="1" dirty="0"/>
              <a:t> 총 박스수량  </a:t>
            </a:r>
            <a:r>
              <a:rPr kumimoji="1" lang="en-US" altLang="ko-KR" sz="2000" b="1" dirty="0"/>
              <a:t>(</a:t>
            </a:r>
            <a:r>
              <a:rPr kumimoji="1" lang="ko-KR" altLang="en-US" sz="2000" b="1" dirty="0"/>
              <a:t> </a:t>
            </a:r>
            <a:r>
              <a:rPr kumimoji="1" lang="en-US" altLang="ko-KR" sz="2000" b="1" dirty="0"/>
              <a:t>  84</a:t>
            </a:r>
            <a:r>
              <a:rPr kumimoji="1" lang="ko-KR" altLang="en-US" sz="2000" b="1" dirty="0"/>
              <a:t>   </a:t>
            </a:r>
            <a:r>
              <a:rPr kumimoji="1" lang="en-US" altLang="ko-KR" sz="2000" b="1" dirty="0"/>
              <a:t>BOX)</a:t>
            </a:r>
            <a:endParaRPr kumimoji="1" lang="ko-KR" altLang="en-US" sz="20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DAFCD5-D3B3-7444-98AF-3B4DFF0D1244}"/>
              </a:ext>
            </a:extLst>
          </p:cNvPr>
          <p:cNvSpPr txBox="1"/>
          <p:nvPr/>
        </p:nvSpPr>
        <p:spPr>
          <a:xfrm>
            <a:off x="1986505" y="1262637"/>
            <a:ext cx="80648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000" b="1" dirty="0"/>
              <a:t>입고예정일자 </a:t>
            </a:r>
            <a:r>
              <a:rPr kumimoji="1" lang="en-US" altLang="ko-KR" sz="2000" b="1" dirty="0"/>
              <a:t>(</a:t>
            </a:r>
            <a:r>
              <a:rPr kumimoji="1" lang="ko-KR" altLang="en-US" sz="2000" b="1" dirty="0"/>
              <a:t>   </a:t>
            </a:r>
            <a:r>
              <a:rPr kumimoji="1" lang="en-US" altLang="ko-KR" sz="2000" b="1" dirty="0"/>
              <a:t>10</a:t>
            </a:r>
            <a:r>
              <a:rPr kumimoji="1" lang="ko-KR" altLang="en-US" sz="2000" b="1" dirty="0"/>
              <a:t>월</a:t>
            </a:r>
            <a:r>
              <a:rPr kumimoji="1" lang="en-US" altLang="ko-KR" sz="2000" b="1" dirty="0"/>
              <a:t> </a:t>
            </a:r>
            <a:r>
              <a:rPr kumimoji="1" lang="ko-KR" altLang="en-US" sz="2000" b="1" dirty="0"/>
              <a:t>     </a:t>
            </a:r>
            <a:r>
              <a:rPr kumimoji="1" lang="en-US" altLang="ko-KR" sz="2000" b="1" dirty="0"/>
              <a:t>28</a:t>
            </a:r>
            <a:r>
              <a:rPr kumimoji="1" lang="ko-KR" altLang="en-US" sz="2000" b="1" dirty="0"/>
              <a:t>일  </a:t>
            </a:r>
            <a:r>
              <a:rPr kumimoji="1" lang="en-US" altLang="ko-KR" sz="2000" b="1" dirty="0"/>
              <a:t>)</a:t>
            </a:r>
            <a:r>
              <a:rPr kumimoji="1" lang="ko-KR" altLang="en-US" sz="2000" b="1" dirty="0"/>
              <a:t>   </a:t>
            </a:r>
            <a:r>
              <a:rPr kumimoji="1" lang="en-US" altLang="ko-KR" sz="2000" b="1" dirty="0"/>
              <a:t>/</a:t>
            </a:r>
            <a:r>
              <a:rPr kumimoji="1" lang="ko-KR" altLang="en-US" sz="2000" b="1" dirty="0"/>
              <a:t> 납품센터명 </a:t>
            </a:r>
            <a:r>
              <a:rPr kumimoji="1" lang="en-US" altLang="ko-KR" sz="2000" b="1" dirty="0"/>
              <a:t>(</a:t>
            </a:r>
            <a:r>
              <a:rPr kumimoji="1" lang="ko-KR" altLang="en-US" sz="2000" b="1" dirty="0"/>
              <a:t>      인천</a:t>
            </a:r>
            <a:r>
              <a:rPr kumimoji="1" lang="en-US" altLang="ko-KR" sz="2000" b="1" dirty="0"/>
              <a:t>17</a:t>
            </a:r>
            <a:r>
              <a:rPr kumimoji="1" lang="ko-KR" altLang="en-US" sz="2000" b="1" dirty="0"/>
              <a:t>  센터</a:t>
            </a:r>
            <a:r>
              <a:rPr kumimoji="1" lang="en-US" altLang="ko-KR" sz="2000" b="1" dirty="0"/>
              <a:t>)</a:t>
            </a:r>
          </a:p>
          <a:p>
            <a:r>
              <a:rPr kumimoji="1" lang="ko-KR" altLang="en-US" sz="2000" b="1" dirty="0"/>
              <a:t>업체명    </a:t>
            </a:r>
            <a:r>
              <a:rPr kumimoji="1" lang="en-US" altLang="ko-KR" sz="2000" b="1" dirty="0"/>
              <a:t>(</a:t>
            </a:r>
            <a:r>
              <a:rPr kumimoji="1" lang="ko-KR" altLang="en-US" sz="2000" b="1" dirty="0"/>
              <a:t> 주식회사 봉우리   </a:t>
            </a:r>
            <a:r>
              <a:rPr kumimoji="1" lang="en-US" altLang="ko-KR" sz="2000" b="1" dirty="0"/>
              <a:t>)	</a:t>
            </a:r>
            <a:r>
              <a:rPr kumimoji="1" lang="ko-KR" altLang="en-US" sz="2000" b="1" dirty="0"/>
              <a:t>  </a:t>
            </a:r>
            <a:r>
              <a:rPr kumimoji="1" lang="en-US" altLang="ko-KR" sz="2000" b="1" dirty="0"/>
              <a:t>/</a:t>
            </a:r>
            <a:r>
              <a:rPr kumimoji="1" lang="ko-KR" altLang="en-US" sz="2000" b="1" dirty="0"/>
              <a:t> 발주센터명 </a:t>
            </a:r>
            <a:r>
              <a:rPr kumimoji="1" lang="en-US" altLang="ko-KR" sz="2000" b="1" dirty="0"/>
              <a:t>(	</a:t>
            </a:r>
            <a:r>
              <a:rPr kumimoji="1" lang="ko-KR" altLang="en-US" sz="2000" b="1" dirty="0"/>
              <a:t> 인천</a:t>
            </a:r>
            <a:r>
              <a:rPr kumimoji="1" lang="en-US" altLang="ko-KR" sz="2000" b="1" dirty="0"/>
              <a:t>17</a:t>
            </a:r>
            <a:r>
              <a:rPr kumimoji="1" lang="ko-KR" altLang="en-US" sz="2000" b="1" dirty="0"/>
              <a:t> 센터</a:t>
            </a:r>
            <a:r>
              <a:rPr kumimoji="1" lang="en-US" altLang="ko-KR" sz="2000" b="1" dirty="0"/>
              <a:t>)</a:t>
            </a:r>
          </a:p>
          <a:p>
            <a:r>
              <a:rPr kumimoji="1" lang="ko-KR" altLang="en-US" sz="2000" b="1" dirty="0"/>
              <a:t>발주번호</a:t>
            </a:r>
            <a:r>
              <a:rPr kumimoji="1" lang="en-US" altLang="ko-KR" sz="2000" b="1" dirty="0"/>
              <a:t> </a:t>
            </a:r>
            <a:r>
              <a:rPr kumimoji="1" lang="ko-KR" altLang="en-US" sz="2000" b="1" dirty="0"/>
              <a:t>     </a:t>
            </a:r>
            <a:r>
              <a:rPr kumimoji="1" lang="en-US" altLang="ko-KR" sz="2000" b="1" dirty="0"/>
              <a:t>(145833812 / 146026283</a:t>
            </a:r>
            <a:r>
              <a:rPr lang="en-US" altLang="ko-KR" sz="2000" dirty="0"/>
              <a:t> </a:t>
            </a:r>
            <a:r>
              <a:rPr kumimoji="1" lang="en-US" altLang="ko-KR" sz="2000" b="1" dirty="0"/>
              <a:t>)</a:t>
            </a:r>
            <a:endParaRPr kumimoji="1" lang="ko-KR" altLang="en-US" sz="2000" b="1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C6D00B2A-ED2D-887D-D479-1D9FEF5F0E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6141909"/>
              </p:ext>
            </p:extLst>
          </p:nvPr>
        </p:nvGraphicFramePr>
        <p:xfrm>
          <a:off x="1986505" y="2311892"/>
          <a:ext cx="8240861" cy="122282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9948">
                  <a:extLst>
                    <a:ext uri="{9D8B030D-6E8A-4147-A177-3AD203B41FA5}">
                      <a16:colId xmlns:a16="http://schemas.microsoft.com/office/drawing/2014/main" val="195056206"/>
                    </a:ext>
                  </a:extLst>
                </a:gridCol>
                <a:gridCol w="1260829">
                  <a:extLst>
                    <a:ext uri="{9D8B030D-6E8A-4147-A177-3AD203B41FA5}">
                      <a16:colId xmlns:a16="http://schemas.microsoft.com/office/drawing/2014/main" val="3391094802"/>
                    </a:ext>
                  </a:extLst>
                </a:gridCol>
                <a:gridCol w="2573518">
                  <a:extLst>
                    <a:ext uri="{9D8B030D-6E8A-4147-A177-3AD203B41FA5}">
                      <a16:colId xmlns:a16="http://schemas.microsoft.com/office/drawing/2014/main" val="479056328"/>
                    </a:ext>
                  </a:extLst>
                </a:gridCol>
                <a:gridCol w="834471">
                  <a:extLst>
                    <a:ext uri="{9D8B030D-6E8A-4147-A177-3AD203B41FA5}">
                      <a16:colId xmlns:a16="http://schemas.microsoft.com/office/drawing/2014/main" val="2274387879"/>
                    </a:ext>
                  </a:extLst>
                </a:gridCol>
                <a:gridCol w="1256723">
                  <a:extLst>
                    <a:ext uri="{9D8B030D-6E8A-4147-A177-3AD203B41FA5}">
                      <a16:colId xmlns:a16="http://schemas.microsoft.com/office/drawing/2014/main" val="316259701"/>
                    </a:ext>
                  </a:extLst>
                </a:gridCol>
                <a:gridCol w="1735372">
                  <a:extLst>
                    <a:ext uri="{9D8B030D-6E8A-4147-A177-3AD203B41FA5}">
                      <a16:colId xmlns:a16="http://schemas.microsoft.com/office/drawing/2014/main" val="3451790099"/>
                    </a:ext>
                  </a:extLst>
                </a:gridCol>
              </a:tblGrid>
              <a:tr h="6911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SKU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SKU NAME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BOX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수량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수량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소비기한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또는 유통기한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)/</a:t>
                      </a:r>
                    </a:p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제조일자</a:t>
                      </a:r>
                      <a:endParaRPr lang="en-US" altLang="ko-KR" sz="11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8075422"/>
                  </a:ext>
                </a:extLst>
              </a:tr>
              <a:tr h="5316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44618719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로켓프레시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]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이웃마을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남독마이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태국망고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3.8kg(12~14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입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84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84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2026.10.28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099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2149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F3369ED6-1A1B-AF46-852A-58227CDB3486}"/>
              </a:ext>
            </a:extLst>
          </p:cNvPr>
          <p:cNvSpPr/>
          <p:nvPr/>
        </p:nvSpPr>
        <p:spPr>
          <a:xfrm>
            <a:off x="1847528" y="664956"/>
            <a:ext cx="8496944" cy="59116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69911" y="100531"/>
            <a:ext cx="90521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u="sng" dirty="0"/>
              <a:t>쿠팡 파렛트 적재리스트 </a:t>
            </a:r>
            <a:r>
              <a:rPr lang="en-US" altLang="ko-KR" sz="2400" b="1" u="sng" dirty="0"/>
              <a:t>(</a:t>
            </a:r>
            <a:r>
              <a:rPr lang="ko-KR" altLang="en-US" sz="2400" b="1" u="sng" dirty="0"/>
              <a:t>신선</a:t>
            </a:r>
            <a:r>
              <a:rPr lang="en-US" altLang="ko-KR" sz="2400" b="1" u="sng" dirty="0"/>
              <a:t>)</a:t>
            </a:r>
            <a:endParaRPr lang="ko-KR" altLang="en-US" sz="2400" b="1" u="sn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0977E7-3DB8-A84B-96D5-7B9A79DAD807}"/>
              </a:ext>
            </a:extLst>
          </p:cNvPr>
          <p:cNvSpPr txBox="1"/>
          <p:nvPr/>
        </p:nvSpPr>
        <p:spPr>
          <a:xfrm>
            <a:off x="1991544" y="815468"/>
            <a:ext cx="80648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000" b="1" dirty="0"/>
              <a:t> </a:t>
            </a:r>
            <a:r>
              <a:rPr kumimoji="1" lang="ko-KR" altLang="en-US" sz="1400" b="1" dirty="0"/>
              <a:t> </a:t>
            </a:r>
            <a:r>
              <a:rPr kumimoji="1" lang="en-US" altLang="ko-KR" sz="1400" b="1" dirty="0"/>
              <a:t>6</a:t>
            </a:r>
            <a:r>
              <a:rPr kumimoji="1" lang="ko-KR" altLang="en-US" sz="1400" b="1" dirty="0"/>
              <a:t> </a:t>
            </a:r>
            <a:r>
              <a:rPr kumimoji="1" lang="en-US" altLang="ko-KR" sz="2000" b="1" dirty="0"/>
              <a:t>-</a:t>
            </a:r>
            <a:r>
              <a:rPr kumimoji="1" lang="ko-KR" altLang="en-US" sz="1400" b="1" dirty="0"/>
              <a:t> </a:t>
            </a:r>
            <a:r>
              <a:rPr kumimoji="1" lang="en-US" altLang="ko-KR" sz="1400" b="1" dirty="0"/>
              <a:t>2</a:t>
            </a:r>
            <a:r>
              <a:rPr kumimoji="1" lang="ko-KR" altLang="en-US" sz="1400" b="1" dirty="0"/>
              <a:t>                     </a:t>
            </a:r>
            <a:r>
              <a:rPr kumimoji="1" lang="en-US" altLang="ko-KR" sz="2000" b="1" dirty="0"/>
              <a:t>/</a:t>
            </a:r>
            <a:r>
              <a:rPr kumimoji="1" lang="ko-KR" altLang="en-US" sz="2000" b="1" dirty="0"/>
              <a:t> 총 박스수량  </a:t>
            </a:r>
            <a:r>
              <a:rPr kumimoji="1" lang="en-US" altLang="ko-KR" sz="2000" b="1" dirty="0"/>
              <a:t>(</a:t>
            </a:r>
            <a:r>
              <a:rPr kumimoji="1" lang="ko-KR" altLang="en-US" sz="2000" b="1" dirty="0"/>
              <a:t> </a:t>
            </a:r>
            <a:r>
              <a:rPr kumimoji="1" lang="en-US" altLang="ko-KR" sz="2000" b="1" dirty="0"/>
              <a:t>  84</a:t>
            </a:r>
            <a:r>
              <a:rPr kumimoji="1" lang="ko-KR" altLang="en-US" sz="2000" b="1" dirty="0"/>
              <a:t>   </a:t>
            </a:r>
            <a:r>
              <a:rPr kumimoji="1" lang="en-US" altLang="ko-KR" sz="2000" b="1" dirty="0"/>
              <a:t>BOX)</a:t>
            </a:r>
            <a:endParaRPr kumimoji="1" lang="ko-KR" altLang="en-US" sz="20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DAFCD5-D3B3-7444-98AF-3B4DFF0D1244}"/>
              </a:ext>
            </a:extLst>
          </p:cNvPr>
          <p:cNvSpPr txBox="1"/>
          <p:nvPr/>
        </p:nvSpPr>
        <p:spPr>
          <a:xfrm>
            <a:off x="1986505" y="1262637"/>
            <a:ext cx="80648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000" b="1" dirty="0"/>
              <a:t>입고예정일자 </a:t>
            </a:r>
            <a:r>
              <a:rPr kumimoji="1" lang="en-US" altLang="ko-KR" sz="2000" b="1" dirty="0"/>
              <a:t>(</a:t>
            </a:r>
            <a:r>
              <a:rPr kumimoji="1" lang="ko-KR" altLang="en-US" sz="2000" b="1" dirty="0"/>
              <a:t>   </a:t>
            </a:r>
            <a:r>
              <a:rPr kumimoji="1" lang="en-US" altLang="ko-KR" sz="2000" b="1" dirty="0"/>
              <a:t>10</a:t>
            </a:r>
            <a:r>
              <a:rPr kumimoji="1" lang="ko-KR" altLang="en-US" sz="2000" b="1" dirty="0"/>
              <a:t>월</a:t>
            </a:r>
            <a:r>
              <a:rPr kumimoji="1" lang="en-US" altLang="ko-KR" sz="2000" b="1" dirty="0"/>
              <a:t> </a:t>
            </a:r>
            <a:r>
              <a:rPr kumimoji="1" lang="ko-KR" altLang="en-US" sz="2000" b="1" dirty="0"/>
              <a:t>     </a:t>
            </a:r>
            <a:r>
              <a:rPr kumimoji="1" lang="en-US" altLang="ko-KR" sz="2000" b="1" dirty="0"/>
              <a:t>28</a:t>
            </a:r>
            <a:r>
              <a:rPr kumimoji="1" lang="ko-KR" altLang="en-US" sz="2000" b="1" dirty="0"/>
              <a:t>일  </a:t>
            </a:r>
            <a:r>
              <a:rPr kumimoji="1" lang="en-US" altLang="ko-KR" sz="2000" b="1" dirty="0"/>
              <a:t>)</a:t>
            </a:r>
            <a:r>
              <a:rPr kumimoji="1" lang="ko-KR" altLang="en-US" sz="2000" b="1" dirty="0"/>
              <a:t>   </a:t>
            </a:r>
            <a:r>
              <a:rPr kumimoji="1" lang="en-US" altLang="ko-KR" sz="2000" b="1" dirty="0"/>
              <a:t>/</a:t>
            </a:r>
            <a:r>
              <a:rPr kumimoji="1" lang="ko-KR" altLang="en-US" sz="2000" b="1" dirty="0"/>
              <a:t> 납품센터명 </a:t>
            </a:r>
            <a:r>
              <a:rPr kumimoji="1" lang="en-US" altLang="ko-KR" sz="2000" b="1" dirty="0"/>
              <a:t>(</a:t>
            </a:r>
            <a:r>
              <a:rPr kumimoji="1" lang="ko-KR" altLang="en-US" sz="2000" b="1" dirty="0"/>
              <a:t>      인천</a:t>
            </a:r>
            <a:r>
              <a:rPr kumimoji="1" lang="en-US" altLang="ko-KR" sz="2000" b="1" dirty="0"/>
              <a:t>17</a:t>
            </a:r>
            <a:r>
              <a:rPr kumimoji="1" lang="ko-KR" altLang="en-US" sz="2000" b="1" dirty="0"/>
              <a:t>  센터</a:t>
            </a:r>
            <a:r>
              <a:rPr kumimoji="1" lang="en-US" altLang="ko-KR" sz="2000" b="1" dirty="0"/>
              <a:t>)</a:t>
            </a:r>
          </a:p>
          <a:p>
            <a:r>
              <a:rPr kumimoji="1" lang="ko-KR" altLang="en-US" sz="2000" b="1" dirty="0"/>
              <a:t>업체명    </a:t>
            </a:r>
            <a:r>
              <a:rPr kumimoji="1" lang="en-US" altLang="ko-KR" sz="2000" b="1" dirty="0"/>
              <a:t>(</a:t>
            </a:r>
            <a:r>
              <a:rPr kumimoji="1" lang="ko-KR" altLang="en-US" sz="2000" b="1" dirty="0"/>
              <a:t> 주식회사 봉우리   </a:t>
            </a:r>
            <a:r>
              <a:rPr kumimoji="1" lang="en-US" altLang="ko-KR" sz="2000" b="1" dirty="0"/>
              <a:t>)	</a:t>
            </a:r>
            <a:r>
              <a:rPr kumimoji="1" lang="ko-KR" altLang="en-US" sz="2000" b="1" dirty="0"/>
              <a:t>  </a:t>
            </a:r>
            <a:r>
              <a:rPr kumimoji="1" lang="en-US" altLang="ko-KR" sz="2000" b="1" dirty="0"/>
              <a:t>/</a:t>
            </a:r>
            <a:r>
              <a:rPr kumimoji="1" lang="ko-KR" altLang="en-US" sz="2000" b="1" dirty="0"/>
              <a:t> 발주센터명 </a:t>
            </a:r>
            <a:r>
              <a:rPr kumimoji="1" lang="en-US" altLang="ko-KR" sz="2000" b="1" dirty="0"/>
              <a:t>(	</a:t>
            </a:r>
            <a:r>
              <a:rPr kumimoji="1" lang="ko-KR" altLang="en-US" sz="2000" b="1" dirty="0"/>
              <a:t> 인천</a:t>
            </a:r>
            <a:r>
              <a:rPr kumimoji="1" lang="en-US" altLang="ko-KR" sz="2000" b="1" dirty="0"/>
              <a:t>17</a:t>
            </a:r>
            <a:r>
              <a:rPr kumimoji="1" lang="ko-KR" altLang="en-US" sz="2000" b="1" dirty="0"/>
              <a:t> 센터</a:t>
            </a:r>
            <a:r>
              <a:rPr kumimoji="1" lang="en-US" altLang="ko-KR" sz="2000" b="1" dirty="0"/>
              <a:t>)</a:t>
            </a:r>
          </a:p>
          <a:p>
            <a:r>
              <a:rPr kumimoji="1" lang="ko-KR" altLang="en-US" sz="2000" b="1" dirty="0"/>
              <a:t>발주번호</a:t>
            </a:r>
            <a:r>
              <a:rPr kumimoji="1" lang="en-US" altLang="ko-KR" sz="2000" b="1" dirty="0"/>
              <a:t> </a:t>
            </a:r>
            <a:r>
              <a:rPr kumimoji="1" lang="ko-KR" altLang="en-US" sz="2000" b="1" dirty="0"/>
              <a:t>     </a:t>
            </a:r>
            <a:r>
              <a:rPr kumimoji="1" lang="en-US" altLang="ko-KR" sz="2000" b="1" dirty="0"/>
              <a:t>(145833812 / 146026283</a:t>
            </a:r>
            <a:r>
              <a:rPr lang="en-US" altLang="ko-KR" sz="2000" dirty="0"/>
              <a:t> </a:t>
            </a:r>
            <a:r>
              <a:rPr kumimoji="1" lang="en-US" altLang="ko-KR" sz="2000" b="1" dirty="0"/>
              <a:t>)</a:t>
            </a:r>
            <a:endParaRPr kumimoji="1" lang="ko-KR" altLang="en-US" sz="2000" b="1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C6D00B2A-ED2D-887D-D479-1D9FEF5F0ED3}"/>
              </a:ext>
            </a:extLst>
          </p:cNvPr>
          <p:cNvGraphicFramePr>
            <a:graphicFrameLocks noGrp="1"/>
          </p:cNvGraphicFramePr>
          <p:nvPr/>
        </p:nvGraphicFramePr>
        <p:xfrm>
          <a:off x="1986505" y="2311892"/>
          <a:ext cx="8240861" cy="122282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9948">
                  <a:extLst>
                    <a:ext uri="{9D8B030D-6E8A-4147-A177-3AD203B41FA5}">
                      <a16:colId xmlns:a16="http://schemas.microsoft.com/office/drawing/2014/main" val="195056206"/>
                    </a:ext>
                  </a:extLst>
                </a:gridCol>
                <a:gridCol w="1260829">
                  <a:extLst>
                    <a:ext uri="{9D8B030D-6E8A-4147-A177-3AD203B41FA5}">
                      <a16:colId xmlns:a16="http://schemas.microsoft.com/office/drawing/2014/main" val="3391094802"/>
                    </a:ext>
                  </a:extLst>
                </a:gridCol>
                <a:gridCol w="2573518">
                  <a:extLst>
                    <a:ext uri="{9D8B030D-6E8A-4147-A177-3AD203B41FA5}">
                      <a16:colId xmlns:a16="http://schemas.microsoft.com/office/drawing/2014/main" val="479056328"/>
                    </a:ext>
                  </a:extLst>
                </a:gridCol>
                <a:gridCol w="834471">
                  <a:extLst>
                    <a:ext uri="{9D8B030D-6E8A-4147-A177-3AD203B41FA5}">
                      <a16:colId xmlns:a16="http://schemas.microsoft.com/office/drawing/2014/main" val="2274387879"/>
                    </a:ext>
                  </a:extLst>
                </a:gridCol>
                <a:gridCol w="1256723">
                  <a:extLst>
                    <a:ext uri="{9D8B030D-6E8A-4147-A177-3AD203B41FA5}">
                      <a16:colId xmlns:a16="http://schemas.microsoft.com/office/drawing/2014/main" val="316259701"/>
                    </a:ext>
                  </a:extLst>
                </a:gridCol>
                <a:gridCol w="1735372">
                  <a:extLst>
                    <a:ext uri="{9D8B030D-6E8A-4147-A177-3AD203B41FA5}">
                      <a16:colId xmlns:a16="http://schemas.microsoft.com/office/drawing/2014/main" val="3451790099"/>
                    </a:ext>
                  </a:extLst>
                </a:gridCol>
              </a:tblGrid>
              <a:tr h="6911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SKU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SKU NAME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BOX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수량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수량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소비기한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또는 유통기한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)/</a:t>
                      </a:r>
                    </a:p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제조일자</a:t>
                      </a:r>
                      <a:endParaRPr lang="en-US" altLang="ko-KR" sz="11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8075422"/>
                  </a:ext>
                </a:extLst>
              </a:tr>
              <a:tr h="5316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44618719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로켓프레시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]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이웃마을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남독마이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태국망고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3.8kg(12~14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입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84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84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2026.10.28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099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5322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F3369ED6-1A1B-AF46-852A-58227CDB3486}"/>
              </a:ext>
            </a:extLst>
          </p:cNvPr>
          <p:cNvSpPr/>
          <p:nvPr/>
        </p:nvSpPr>
        <p:spPr>
          <a:xfrm>
            <a:off x="1847528" y="664956"/>
            <a:ext cx="8496944" cy="59116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69911" y="100531"/>
            <a:ext cx="90521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u="sng" dirty="0"/>
              <a:t>쿠팡 파렛트 적재리스트 </a:t>
            </a:r>
            <a:r>
              <a:rPr lang="en-US" altLang="ko-KR" sz="2400" b="1" u="sng" dirty="0"/>
              <a:t>(</a:t>
            </a:r>
            <a:r>
              <a:rPr lang="ko-KR" altLang="en-US" sz="2400" b="1" u="sng" dirty="0"/>
              <a:t>신선</a:t>
            </a:r>
            <a:r>
              <a:rPr lang="en-US" altLang="ko-KR" sz="2400" b="1" u="sng" dirty="0"/>
              <a:t>)</a:t>
            </a:r>
            <a:endParaRPr lang="ko-KR" altLang="en-US" sz="2400" b="1" u="sn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0977E7-3DB8-A84B-96D5-7B9A79DAD807}"/>
              </a:ext>
            </a:extLst>
          </p:cNvPr>
          <p:cNvSpPr txBox="1"/>
          <p:nvPr/>
        </p:nvSpPr>
        <p:spPr>
          <a:xfrm>
            <a:off x="1991544" y="815468"/>
            <a:ext cx="80648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000" b="1" dirty="0"/>
              <a:t> </a:t>
            </a:r>
            <a:r>
              <a:rPr kumimoji="1" lang="ko-KR" altLang="en-US" sz="1400" b="1" dirty="0"/>
              <a:t> </a:t>
            </a:r>
            <a:r>
              <a:rPr kumimoji="1" lang="en-US" altLang="ko-KR" sz="1400" b="1" dirty="0"/>
              <a:t>6</a:t>
            </a:r>
            <a:r>
              <a:rPr kumimoji="1" lang="ko-KR" altLang="en-US" sz="1400" b="1" dirty="0"/>
              <a:t> </a:t>
            </a:r>
            <a:r>
              <a:rPr kumimoji="1" lang="en-US" altLang="ko-KR" sz="2000" b="1" dirty="0"/>
              <a:t>-</a:t>
            </a:r>
            <a:r>
              <a:rPr kumimoji="1" lang="ko-KR" altLang="en-US" sz="1400" b="1" dirty="0"/>
              <a:t> </a:t>
            </a:r>
            <a:r>
              <a:rPr kumimoji="1" lang="en-US" altLang="ko-KR" sz="1400" b="1" dirty="0"/>
              <a:t>3</a:t>
            </a:r>
            <a:r>
              <a:rPr kumimoji="1" lang="ko-KR" altLang="en-US" sz="1400" b="1" dirty="0"/>
              <a:t>                     </a:t>
            </a:r>
            <a:r>
              <a:rPr kumimoji="1" lang="en-US" altLang="ko-KR" sz="2000" b="1" dirty="0"/>
              <a:t>/</a:t>
            </a:r>
            <a:r>
              <a:rPr kumimoji="1" lang="ko-KR" altLang="en-US" sz="2000" b="1" dirty="0"/>
              <a:t> 총 박스수량  </a:t>
            </a:r>
            <a:r>
              <a:rPr kumimoji="1" lang="en-US" altLang="ko-KR" sz="2000" b="1" dirty="0"/>
              <a:t>(</a:t>
            </a:r>
            <a:r>
              <a:rPr kumimoji="1" lang="ko-KR" altLang="en-US" sz="2000" b="1" dirty="0"/>
              <a:t> </a:t>
            </a:r>
            <a:r>
              <a:rPr kumimoji="1" lang="en-US" altLang="ko-KR" sz="2000" b="1" dirty="0"/>
              <a:t> 84 </a:t>
            </a:r>
            <a:r>
              <a:rPr kumimoji="1" lang="ko-KR" altLang="en-US" sz="2000" b="1" dirty="0"/>
              <a:t>   </a:t>
            </a:r>
            <a:r>
              <a:rPr kumimoji="1" lang="en-US" altLang="ko-KR" sz="2000" b="1" dirty="0"/>
              <a:t>BOX)</a:t>
            </a:r>
            <a:endParaRPr kumimoji="1" lang="ko-KR" altLang="en-US" sz="20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DAFCD5-D3B3-7444-98AF-3B4DFF0D1244}"/>
              </a:ext>
            </a:extLst>
          </p:cNvPr>
          <p:cNvSpPr txBox="1"/>
          <p:nvPr/>
        </p:nvSpPr>
        <p:spPr>
          <a:xfrm>
            <a:off x="1986505" y="1262637"/>
            <a:ext cx="80648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000" b="1" dirty="0"/>
              <a:t>입고예정일자 </a:t>
            </a:r>
            <a:r>
              <a:rPr kumimoji="1" lang="en-US" altLang="ko-KR" sz="2000" b="1" dirty="0"/>
              <a:t>(</a:t>
            </a:r>
            <a:r>
              <a:rPr kumimoji="1" lang="ko-KR" altLang="en-US" sz="2000" b="1" dirty="0"/>
              <a:t>   </a:t>
            </a:r>
            <a:r>
              <a:rPr kumimoji="1" lang="en-US" altLang="ko-KR" sz="2000" b="1" dirty="0"/>
              <a:t>10</a:t>
            </a:r>
            <a:r>
              <a:rPr kumimoji="1" lang="ko-KR" altLang="en-US" sz="2000" b="1" dirty="0"/>
              <a:t>월</a:t>
            </a:r>
            <a:r>
              <a:rPr kumimoji="1" lang="en-US" altLang="ko-KR" sz="2000" b="1" dirty="0"/>
              <a:t> </a:t>
            </a:r>
            <a:r>
              <a:rPr kumimoji="1" lang="ko-KR" altLang="en-US" sz="2000" b="1" dirty="0"/>
              <a:t>     </a:t>
            </a:r>
            <a:r>
              <a:rPr kumimoji="1" lang="en-US" altLang="ko-KR" sz="2000" b="1" dirty="0"/>
              <a:t>28</a:t>
            </a:r>
            <a:r>
              <a:rPr kumimoji="1" lang="ko-KR" altLang="en-US" sz="2000" b="1" dirty="0"/>
              <a:t>일  </a:t>
            </a:r>
            <a:r>
              <a:rPr kumimoji="1" lang="en-US" altLang="ko-KR" sz="2000" b="1" dirty="0"/>
              <a:t>)</a:t>
            </a:r>
            <a:r>
              <a:rPr kumimoji="1" lang="ko-KR" altLang="en-US" sz="2000" b="1" dirty="0"/>
              <a:t>   </a:t>
            </a:r>
            <a:r>
              <a:rPr kumimoji="1" lang="en-US" altLang="ko-KR" sz="2000" b="1" dirty="0"/>
              <a:t>/</a:t>
            </a:r>
            <a:r>
              <a:rPr kumimoji="1" lang="ko-KR" altLang="en-US" sz="2000" b="1" dirty="0"/>
              <a:t> 납품센터명 </a:t>
            </a:r>
            <a:r>
              <a:rPr kumimoji="1" lang="en-US" altLang="ko-KR" sz="2000" b="1" dirty="0"/>
              <a:t>(</a:t>
            </a:r>
            <a:r>
              <a:rPr kumimoji="1" lang="ko-KR" altLang="en-US" sz="2000" b="1" dirty="0"/>
              <a:t>      인천</a:t>
            </a:r>
            <a:r>
              <a:rPr kumimoji="1" lang="en-US" altLang="ko-KR" sz="2000" b="1" dirty="0"/>
              <a:t>17</a:t>
            </a:r>
            <a:r>
              <a:rPr kumimoji="1" lang="ko-KR" altLang="en-US" sz="2000" b="1" dirty="0"/>
              <a:t>  센터</a:t>
            </a:r>
            <a:r>
              <a:rPr kumimoji="1" lang="en-US" altLang="ko-KR" sz="2000" b="1" dirty="0"/>
              <a:t>)</a:t>
            </a:r>
          </a:p>
          <a:p>
            <a:r>
              <a:rPr kumimoji="1" lang="ko-KR" altLang="en-US" sz="2000" b="1" dirty="0"/>
              <a:t>업체명    </a:t>
            </a:r>
            <a:r>
              <a:rPr kumimoji="1" lang="en-US" altLang="ko-KR" sz="2000" b="1" dirty="0"/>
              <a:t>(</a:t>
            </a:r>
            <a:r>
              <a:rPr kumimoji="1" lang="ko-KR" altLang="en-US" sz="2000" b="1" dirty="0"/>
              <a:t> 주식회사 봉우리   </a:t>
            </a:r>
            <a:r>
              <a:rPr kumimoji="1" lang="en-US" altLang="ko-KR" sz="2000" b="1" dirty="0"/>
              <a:t>)	</a:t>
            </a:r>
            <a:r>
              <a:rPr kumimoji="1" lang="ko-KR" altLang="en-US" sz="2000" b="1" dirty="0"/>
              <a:t>  </a:t>
            </a:r>
            <a:r>
              <a:rPr kumimoji="1" lang="en-US" altLang="ko-KR" sz="2000" b="1" dirty="0"/>
              <a:t>/</a:t>
            </a:r>
            <a:r>
              <a:rPr kumimoji="1" lang="ko-KR" altLang="en-US" sz="2000" b="1" dirty="0"/>
              <a:t> 발주센터명 </a:t>
            </a:r>
            <a:r>
              <a:rPr kumimoji="1" lang="en-US" altLang="ko-KR" sz="2000" b="1" dirty="0"/>
              <a:t>(	</a:t>
            </a:r>
            <a:r>
              <a:rPr kumimoji="1" lang="ko-KR" altLang="en-US" sz="2000" b="1" dirty="0"/>
              <a:t> 인천</a:t>
            </a:r>
            <a:r>
              <a:rPr kumimoji="1" lang="en-US" altLang="ko-KR" sz="2000" b="1" dirty="0"/>
              <a:t>17</a:t>
            </a:r>
            <a:r>
              <a:rPr kumimoji="1" lang="ko-KR" altLang="en-US" sz="2000" b="1" dirty="0"/>
              <a:t> 센터</a:t>
            </a:r>
            <a:r>
              <a:rPr kumimoji="1" lang="en-US" altLang="ko-KR" sz="2000" b="1" dirty="0"/>
              <a:t>)</a:t>
            </a:r>
          </a:p>
          <a:p>
            <a:r>
              <a:rPr kumimoji="1" lang="ko-KR" altLang="en-US" sz="2000" b="1" dirty="0"/>
              <a:t>발주번호</a:t>
            </a:r>
            <a:r>
              <a:rPr kumimoji="1" lang="en-US" altLang="ko-KR" sz="2000" b="1" dirty="0"/>
              <a:t> </a:t>
            </a:r>
            <a:r>
              <a:rPr kumimoji="1" lang="ko-KR" altLang="en-US" sz="2000" b="1" dirty="0"/>
              <a:t>     </a:t>
            </a:r>
            <a:r>
              <a:rPr kumimoji="1" lang="en-US" altLang="ko-KR" sz="2000" b="1" dirty="0"/>
              <a:t>(145833812 / 146026283</a:t>
            </a:r>
            <a:r>
              <a:rPr lang="en-US" altLang="ko-KR" sz="2000" dirty="0"/>
              <a:t> </a:t>
            </a:r>
            <a:r>
              <a:rPr kumimoji="1" lang="en-US" altLang="ko-KR" sz="2000" b="1" dirty="0"/>
              <a:t>)</a:t>
            </a:r>
            <a:endParaRPr kumimoji="1" lang="ko-KR" altLang="en-US" sz="2000" b="1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C6D00B2A-ED2D-887D-D479-1D9FEF5F0ED3}"/>
              </a:ext>
            </a:extLst>
          </p:cNvPr>
          <p:cNvGraphicFramePr>
            <a:graphicFrameLocks noGrp="1"/>
          </p:cNvGraphicFramePr>
          <p:nvPr/>
        </p:nvGraphicFramePr>
        <p:xfrm>
          <a:off x="1986505" y="2311892"/>
          <a:ext cx="8240861" cy="122282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9948">
                  <a:extLst>
                    <a:ext uri="{9D8B030D-6E8A-4147-A177-3AD203B41FA5}">
                      <a16:colId xmlns:a16="http://schemas.microsoft.com/office/drawing/2014/main" val="195056206"/>
                    </a:ext>
                  </a:extLst>
                </a:gridCol>
                <a:gridCol w="1260829">
                  <a:extLst>
                    <a:ext uri="{9D8B030D-6E8A-4147-A177-3AD203B41FA5}">
                      <a16:colId xmlns:a16="http://schemas.microsoft.com/office/drawing/2014/main" val="3391094802"/>
                    </a:ext>
                  </a:extLst>
                </a:gridCol>
                <a:gridCol w="2573518">
                  <a:extLst>
                    <a:ext uri="{9D8B030D-6E8A-4147-A177-3AD203B41FA5}">
                      <a16:colId xmlns:a16="http://schemas.microsoft.com/office/drawing/2014/main" val="479056328"/>
                    </a:ext>
                  </a:extLst>
                </a:gridCol>
                <a:gridCol w="834471">
                  <a:extLst>
                    <a:ext uri="{9D8B030D-6E8A-4147-A177-3AD203B41FA5}">
                      <a16:colId xmlns:a16="http://schemas.microsoft.com/office/drawing/2014/main" val="2274387879"/>
                    </a:ext>
                  </a:extLst>
                </a:gridCol>
                <a:gridCol w="1256723">
                  <a:extLst>
                    <a:ext uri="{9D8B030D-6E8A-4147-A177-3AD203B41FA5}">
                      <a16:colId xmlns:a16="http://schemas.microsoft.com/office/drawing/2014/main" val="316259701"/>
                    </a:ext>
                  </a:extLst>
                </a:gridCol>
                <a:gridCol w="1735372">
                  <a:extLst>
                    <a:ext uri="{9D8B030D-6E8A-4147-A177-3AD203B41FA5}">
                      <a16:colId xmlns:a16="http://schemas.microsoft.com/office/drawing/2014/main" val="3451790099"/>
                    </a:ext>
                  </a:extLst>
                </a:gridCol>
              </a:tblGrid>
              <a:tr h="6911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SKU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SKU NAME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BOX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수량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수량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소비기한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또는 유통기한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)/</a:t>
                      </a:r>
                    </a:p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제조일자</a:t>
                      </a:r>
                      <a:endParaRPr lang="en-US" altLang="ko-KR" sz="11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8075422"/>
                  </a:ext>
                </a:extLst>
              </a:tr>
              <a:tr h="5316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44618719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로켓프레시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]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이웃마을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남독마이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태국망고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3.8kg(12~14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입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84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84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2026.10.28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099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9620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F3369ED6-1A1B-AF46-852A-58227CDB3486}"/>
              </a:ext>
            </a:extLst>
          </p:cNvPr>
          <p:cNvSpPr/>
          <p:nvPr/>
        </p:nvSpPr>
        <p:spPr>
          <a:xfrm>
            <a:off x="1847528" y="664956"/>
            <a:ext cx="8496944" cy="59116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69911" y="100531"/>
            <a:ext cx="90521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u="sng" dirty="0"/>
              <a:t>쿠팡 파렛트 적재리스트 </a:t>
            </a:r>
            <a:r>
              <a:rPr lang="en-US" altLang="ko-KR" sz="2400" b="1" u="sng" dirty="0"/>
              <a:t>(</a:t>
            </a:r>
            <a:r>
              <a:rPr lang="ko-KR" altLang="en-US" sz="2400" b="1" u="sng" dirty="0"/>
              <a:t>신선</a:t>
            </a:r>
            <a:r>
              <a:rPr lang="en-US" altLang="ko-KR" sz="2400" b="1" u="sng" dirty="0"/>
              <a:t>)</a:t>
            </a:r>
            <a:endParaRPr lang="ko-KR" altLang="en-US" sz="2400" b="1" u="sn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0977E7-3DB8-A84B-96D5-7B9A79DAD807}"/>
              </a:ext>
            </a:extLst>
          </p:cNvPr>
          <p:cNvSpPr txBox="1"/>
          <p:nvPr/>
        </p:nvSpPr>
        <p:spPr>
          <a:xfrm>
            <a:off x="1991544" y="815468"/>
            <a:ext cx="80648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000" b="1" dirty="0"/>
              <a:t> </a:t>
            </a:r>
            <a:r>
              <a:rPr kumimoji="1" lang="ko-KR" altLang="en-US" sz="1400" b="1" dirty="0"/>
              <a:t> </a:t>
            </a:r>
            <a:r>
              <a:rPr kumimoji="1" lang="en-US" altLang="ko-KR" sz="1400" b="1" dirty="0"/>
              <a:t>6</a:t>
            </a:r>
            <a:r>
              <a:rPr kumimoji="1" lang="ko-KR" altLang="en-US" sz="1400" b="1" dirty="0"/>
              <a:t> </a:t>
            </a:r>
            <a:r>
              <a:rPr kumimoji="1" lang="en-US" altLang="ko-KR" sz="2000" b="1" dirty="0"/>
              <a:t>-</a:t>
            </a:r>
            <a:r>
              <a:rPr kumimoji="1" lang="ko-KR" altLang="en-US" sz="1400" b="1" dirty="0"/>
              <a:t> </a:t>
            </a:r>
            <a:r>
              <a:rPr kumimoji="1" lang="en-US" altLang="ko-KR" sz="1400" b="1" dirty="0"/>
              <a:t>4</a:t>
            </a:r>
            <a:r>
              <a:rPr kumimoji="1" lang="ko-KR" altLang="en-US" sz="1400" b="1" dirty="0"/>
              <a:t>                     </a:t>
            </a:r>
            <a:r>
              <a:rPr kumimoji="1" lang="en-US" altLang="ko-KR" sz="2000" b="1" dirty="0"/>
              <a:t>/</a:t>
            </a:r>
            <a:r>
              <a:rPr kumimoji="1" lang="ko-KR" altLang="en-US" sz="2000" b="1" dirty="0"/>
              <a:t> 총 박스수량  </a:t>
            </a:r>
            <a:r>
              <a:rPr kumimoji="1" lang="en-US" altLang="ko-KR" sz="2000" b="1" dirty="0"/>
              <a:t>(</a:t>
            </a:r>
            <a:r>
              <a:rPr kumimoji="1" lang="ko-KR" altLang="en-US" sz="2000" b="1" dirty="0"/>
              <a:t> </a:t>
            </a:r>
            <a:r>
              <a:rPr kumimoji="1" lang="en-US" altLang="ko-KR" sz="2000" b="1" dirty="0"/>
              <a:t>  </a:t>
            </a:r>
            <a:r>
              <a:rPr kumimoji="1" lang="ko-KR" altLang="en-US" sz="2000" b="1" dirty="0"/>
              <a:t> </a:t>
            </a:r>
            <a:r>
              <a:rPr kumimoji="1" lang="en-US" altLang="ko-KR" sz="2000" b="1" dirty="0"/>
              <a:t>44</a:t>
            </a:r>
            <a:r>
              <a:rPr kumimoji="1" lang="ko-KR" altLang="en-US" sz="2000" b="1" dirty="0"/>
              <a:t>  </a:t>
            </a:r>
            <a:r>
              <a:rPr kumimoji="1" lang="en-US" altLang="ko-KR" sz="2000" b="1" dirty="0"/>
              <a:t>BOX)</a:t>
            </a:r>
            <a:endParaRPr kumimoji="1" lang="ko-KR" altLang="en-US" sz="20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DAFCD5-D3B3-7444-98AF-3B4DFF0D1244}"/>
              </a:ext>
            </a:extLst>
          </p:cNvPr>
          <p:cNvSpPr txBox="1"/>
          <p:nvPr/>
        </p:nvSpPr>
        <p:spPr>
          <a:xfrm>
            <a:off x="1986505" y="1262637"/>
            <a:ext cx="80648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000" b="1" dirty="0"/>
              <a:t>입고예정일자 </a:t>
            </a:r>
            <a:r>
              <a:rPr kumimoji="1" lang="en-US" altLang="ko-KR" sz="2000" b="1" dirty="0"/>
              <a:t>(</a:t>
            </a:r>
            <a:r>
              <a:rPr kumimoji="1" lang="ko-KR" altLang="en-US" sz="2000" b="1" dirty="0"/>
              <a:t>   </a:t>
            </a:r>
            <a:r>
              <a:rPr kumimoji="1" lang="en-US" altLang="ko-KR" sz="2000" b="1" dirty="0"/>
              <a:t>10</a:t>
            </a:r>
            <a:r>
              <a:rPr kumimoji="1" lang="ko-KR" altLang="en-US" sz="2000" b="1" dirty="0"/>
              <a:t>월</a:t>
            </a:r>
            <a:r>
              <a:rPr kumimoji="1" lang="en-US" altLang="ko-KR" sz="2000" b="1" dirty="0"/>
              <a:t> </a:t>
            </a:r>
            <a:r>
              <a:rPr kumimoji="1" lang="ko-KR" altLang="en-US" sz="2000" b="1" dirty="0"/>
              <a:t>     </a:t>
            </a:r>
            <a:r>
              <a:rPr kumimoji="1" lang="en-US" altLang="ko-KR" sz="2000" b="1" dirty="0"/>
              <a:t>28</a:t>
            </a:r>
            <a:r>
              <a:rPr kumimoji="1" lang="ko-KR" altLang="en-US" sz="2000" b="1" dirty="0"/>
              <a:t>일  </a:t>
            </a:r>
            <a:r>
              <a:rPr kumimoji="1" lang="en-US" altLang="ko-KR" sz="2000" b="1" dirty="0"/>
              <a:t>)</a:t>
            </a:r>
            <a:r>
              <a:rPr kumimoji="1" lang="ko-KR" altLang="en-US" sz="2000" b="1" dirty="0"/>
              <a:t>   </a:t>
            </a:r>
            <a:r>
              <a:rPr kumimoji="1" lang="en-US" altLang="ko-KR" sz="2000" b="1" dirty="0"/>
              <a:t>/</a:t>
            </a:r>
            <a:r>
              <a:rPr kumimoji="1" lang="ko-KR" altLang="en-US" sz="2000" b="1" dirty="0"/>
              <a:t> 납품센터명 </a:t>
            </a:r>
            <a:r>
              <a:rPr kumimoji="1" lang="en-US" altLang="ko-KR" sz="2000" b="1" dirty="0"/>
              <a:t>(</a:t>
            </a:r>
            <a:r>
              <a:rPr kumimoji="1" lang="ko-KR" altLang="en-US" sz="2000" b="1" dirty="0"/>
              <a:t>      인천</a:t>
            </a:r>
            <a:r>
              <a:rPr kumimoji="1" lang="en-US" altLang="ko-KR" sz="2000" b="1" dirty="0"/>
              <a:t>17</a:t>
            </a:r>
            <a:r>
              <a:rPr kumimoji="1" lang="ko-KR" altLang="en-US" sz="2000" b="1" dirty="0"/>
              <a:t>  센터</a:t>
            </a:r>
            <a:r>
              <a:rPr kumimoji="1" lang="en-US" altLang="ko-KR" sz="2000" b="1" dirty="0"/>
              <a:t>)</a:t>
            </a:r>
          </a:p>
          <a:p>
            <a:r>
              <a:rPr kumimoji="1" lang="ko-KR" altLang="en-US" sz="2000" b="1" dirty="0"/>
              <a:t>업체명    </a:t>
            </a:r>
            <a:r>
              <a:rPr kumimoji="1" lang="en-US" altLang="ko-KR" sz="2000" b="1" dirty="0"/>
              <a:t>(</a:t>
            </a:r>
            <a:r>
              <a:rPr kumimoji="1" lang="ko-KR" altLang="en-US" sz="2000" b="1" dirty="0"/>
              <a:t> 주식회사 봉우리   </a:t>
            </a:r>
            <a:r>
              <a:rPr kumimoji="1" lang="en-US" altLang="ko-KR" sz="2000" b="1" dirty="0"/>
              <a:t>)	</a:t>
            </a:r>
            <a:r>
              <a:rPr kumimoji="1" lang="ko-KR" altLang="en-US" sz="2000" b="1" dirty="0"/>
              <a:t>  </a:t>
            </a:r>
            <a:r>
              <a:rPr kumimoji="1" lang="en-US" altLang="ko-KR" sz="2000" b="1" dirty="0"/>
              <a:t>/</a:t>
            </a:r>
            <a:r>
              <a:rPr kumimoji="1" lang="ko-KR" altLang="en-US" sz="2000" b="1" dirty="0"/>
              <a:t> 발주센터명 </a:t>
            </a:r>
            <a:r>
              <a:rPr kumimoji="1" lang="en-US" altLang="ko-KR" sz="2000" b="1" dirty="0"/>
              <a:t>(	</a:t>
            </a:r>
            <a:r>
              <a:rPr kumimoji="1" lang="ko-KR" altLang="en-US" sz="2000" b="1" dirty="0"/>
              <a:t> 인천</a:t>
            </a:r>
            <a:r>
              <a:rPr kumimoji="1" lang="en-US" altLang="ko-KR" sz="2000" b="1" dirty="0"/>
              <a:t>17</a:t>
            </a:r>
            <a:r>
              <a:rPr kumimoji="1" lang="ko-KR" altLang="en-US" sz="2000" b="1" dirty="0"/>
              <a:t> 센터</a:t>
            </a:r>
            <a:r>
              <a:rPr kumimoji="1" lang="en-US" altLang="ko-KR" sz="2000" b="1" dirty="0"/>
              <a:t>)</a:t>
            </a:r>
          </a:p>
          <a:p>
            <a:r>
              <a:rPr kumimoji="1" lang="ko-KR" altLang="en-US" sz="2000" b="1" dirty="0"/>
              <a:t>발주번호</a:t>
            </a:r>
            <a:r>
              <a:rPr kumimoji="1" lang="en-US" altLang="ko-KR" sz="2000" b="1" dirty="0"/>
              <a:t> </a:t>
            </a:r>
            <a:r>
              <a:rPr kumimoji="1" lang="ko-KR" altLang="en-US" sz="2000" b="1" dirty="0"/>
              <a:t>     </a:t>
            </a:r>
            <a:r>
              <a:rPr kumimoji="1" lang="en-US" altLang="ko-KR" sz="2000" b="1" dirty="0"/>
              <a:t>(145833812 / 146026283</a:t>
            </a:r>
            <a:r>
              <a:rPr lang="en-US" altLang="ko-KR" sz="2000" dirty="0"/>
              <a:t> </a:t>
            </a:r>
            <a:r>
              <a:rPr kumimoji="1" lang="en-US" altLang="ko-KR" sz="2000" b="1" dirty="0"/>
              <a:t>)</a:t>
            </a:r>
            <a:endParaRPr kumimoji="1" lang="ko-KR" altLang="en-US" sz="2000" b="1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C6D00B2A-ED2D-887D-D479-1D9FEF5F0E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691718"/>
              </p:ext>
            </p:extLst>
          </p:nvPr>
        </p:nvGraphicFramePr>
        <p:xfrm>
          <a:off x="1986505" y="2311892"/>
          <a:ext cx="8240861" cy="228615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9948">
                  <a:extLst>
                    <a:ext uri="{9D8B030D-6E8A-4147-A177-3AD203B41FA5}">
                      <a16:colId xmlns:a16="http://schemas.microsoft.com/office/drawing/2014/main" val="195056206"/>
                    </a:ext>
                  </a:extLst>
                </a:gridCol>
                <a:gridCol w="1260829">
                  <a:extLst>
                    <a:ext uri="{9D8B030D-6E8A-4147-A177-3AD203B41FA5}">
                      <a16:colId xmlns:a16="http://schemas.microsoft.com/office/drawing/2014/main" val="3391094802"/>
                    </a:ext>
                  </a:extLst>
                </a:gridCol>
                <a:gridCol w="2573518">
                  <a:extLst>
                    <a:ext uri="{9D8B030D-6E8A-4147-A177-3AD203B41FA5}">
                      <a16:colId xmlns:a16="http://schemas.microsoft.com/office/drawing/2014/main" val="479056328"/>
                    </a:ext>
                  </a:extLst>
                </a:gridCol>
                <a:gridCol w="834471">
                  <a:extLst>
                    <a:ext uri="{9D8B030D-6E8A-4147-A177-3AD203B41FA5}">
                      <a16:colId xmlns:a16="http://schemas.microsoft.com/office/drawing/2014/main" val="2274387879"/>
                    </a:ext>
                  </a:extLst>
                </a:gridCol>
                <a:gridCol w="1256723">
                  <a:extLst>
                    <a:ext uri="{9D8B030D-6E8A-4147-A177-3AD203B41FA5}">
                      <a16:colId xmlns:a16="http://schemas.microsoft.com/office/drawing/2014/main" val="316259701"/>
                    </a:ext>
                  </a:extLst>
                </a:gridCol>
                <a:gridCol w="1735372">
                  <a:extLst>
                    <a:ext uri="{9D8B030D-6E8A-4147-A177-3AD203B41FA5}">
                      <a16:colId xmlns:a16="http://schemas.microsoft.com/office/drawing/2014/main" val="3451790099"/>
                    </a:ext>
                  </a:extLst>
                </a:gridCol>
              </a:tblGrid>
              <a:tr h="6911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SKU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SKU NAME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BOX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수량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수량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소비기한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또는 유통기한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)/</a:t>
                      </a:r>
                    </a:p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제조일자</a:t>
                      </a:r>
                      <a:endParaRPr lang="en-US" altLang="ko-KR" sz="11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8075422"/>
                  </a:ext>
                </a:extLst>
              </a:tr>
              <a:tr h="5316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44618721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ko-KR" altLang="en-US" sz="1200" dirty="0" err="1"/>
                        <a:t>로켓프레시</a:t>
                      </a:r>
                      <a:r>
                        <a:rPr lang="en-US" altLang="ko-KR" sz="1200" dirty="0"/>
                        <a:t>]</a:t>
                      </a:r>
                      <a:r>
                        <a:rPr lang="ko-KR" altLang="en-US" sz="1200" dirty="0"/>
                        <a:t>이웃마을 </a:t>
                      </a:r>
                      <a:r>
                        <a:rPr lang="ko-KR" altLang="en-US" sz="1200" dirty="0" err="1"/>
                        <a:t>남독마이</a:t>
                      </a:r>
                      <a:r>
                        <a:rPr lang="ko-KR" altLang="en-US" sz="1200" dirty="0"/>
                        <a:t> </a:t>
                      </a:r>
                      <a:r>
                        <a:rPr lang="ko-KR" altLang="en-US" sz="1200" dirty="0" err="1"/>
                        <a:t>태국망고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4.7kg(14~16</a:t>
                      </a:r>
                      <a:r>
                        <a:rPr lang="ko-KR" altLang="en-US" sz="1200" dirty="0"/>
                        <a:t>입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2026.10.28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758533"/>
                  </a:ext>
                </a:extLst>
              </a:tr>
              <a:tr h="5316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69038267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ko-KR" altLang="en-US" sz="1200" dirty="0" err="1"/>
                        <a:t>로켓프레시</a:t>
                      </a:r>
                      <a:r>
                        <a:rPr lang="en-US" altLang="ko-KR" sz="1200" dirty="0"/>
                        <a:t>] </a:t>
                      </a:r>
                      <a:r>
                        <a:rPr lang="ko-KR" altLang="en-US" sz="1200" dirty="0"/>
                        <a:t>이웃마을 </a:t>
                      </a:r>
                      <a:r>
                        <a:rPr lang="ko-KR" altLang="en-US" sz="1200" dirty="0" err="1"/>
                        <a:t>태국망고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2.9kg 6-8</a:t>
                      </a:r>
                      <a:r>
                        <a:rPr lang="ko-KR" altLang="en-US" sz="1200" dirty="0"/>
                        <a:t>과 </a:t>
                      </a:r>
                      <a:r>
                        <a:rPr lang="en-US" altLang="ko-KR" sz="1200" dirty="0"/>
                        <a:t>XL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2026.10.28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4538402"/>
                  </a:ext>
                </a:extLst>
              </a:tr>
              <a:tr h="5316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69038269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ko-KR" altLang="en-US" sz="1200" dirty="0" err="1"/>
                        <a:t>로켓프레시</a:t>
                      </a:r>
                      <a:r>
                        <a:rPr lang="en-US" altLang="ko-KR" sz="1200" dirty="0"/>
                        <a:t>] </a:t>
                      </a:r>
                      <a:r>
                        <a:rPr lang="ko-KR" altLang="en-US" sz="1200" dirty="0"/>
                        <a:t>이웃마을 </a:t>
                      </a:r>
                      <a:r>
                        <a:rPr lang="ko-KR" altLang="en-US" sz="1200" dirty="0" err="1"/>
                        <a:t>태국망고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2.9kg 10-11</a:t>
                      </a:r>
                      <a:r>
                        <a:rPr lang="ko-KR" altLang="en-US" sz="1200" dirty="0"/>
                        <a:t>과 </a:t>
                      </a:r>
                      <a:r>
                        <a:rPr lang="en-US" altLang="ko-KR" sz="1200" dirty="0"/>
                        <a:t>M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2026.10.28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376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7998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F3369ED6-1A1B-AF46-852A-58227CDB3486}"/>
              </a:ext>
            </a:extLst>
          </p:cNvPr>
          <p:cNvSpPr/>
          <p:nvPr/>
        </p:nvSpPr>
        <p:spPr>
          <a:xfrm>
            <a:off x="1847528" y="664956"/>
            <a:ext cx="8496944" cy="59116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69911" y="100531"/>
            <a:ext cx="90521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u="sng" dirty="0"/>
              <a:t>쿠팡 파렛트 적재리스트 </a:t>
            </a:r>
            <a:r>
              <a:rPr lang="en-US" altLang="ko-KR" sz="2400" b="1" u="sng" dirty="0"/>
              <a:t>(</a:t>
            </a:r>
            <a:r>
              <a:rPr lang="ko-KR" altLang="en-US" sz="2400" b="1" u="sng" dirty="0"/>
              <a:t>신선</a:t>
            </a:r>
            <a:r>
              <a:rPr lang="en-US" altLang="ko-KR" sz="2400" b="1" u="sng" dirty="0"/>
              <a:t>)</a:t>
            </a:r>
            <a:endParaRPr lang="ko-KR" altLang="en-US" sz="2400" b="1" u="sn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0977E7-3DB8-A84B-96D5-7B9A79DAD807}"/>
              </a:ext>
            </a:extLst>
          </p:cNvPr>
          <p:cNvSpPr txBox="1"/>
          <p:nvPr/>
        </p:nvSpPr>
        <p:spPr>
          <a:xfrm>
            <a:off x="1991544" y="815468"/>
            <a:ext cx="80648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000" b="1" dirty="0"/>
              <a:t> </a:t>
            </a:r>
            <a:r>
              <a:rPr kumimoji="1" lang="ko-KR" altLang="en-US" sz="1400" b="1" dirty="0"/>
              <a:t> </a:t>
            </a:r>
            <a:r>
              <a:rPr kumimoji="1" lang="en-US" altLang="ko-KR" sz="1400" b="1" dirty="0"/>
              <a:t>6</a:t>
            </a:r>
            <a:r>
              <a:rPr kumimoji="1" lang="ko-KR" altLang="en-US" sz="1400" b="1" dirty="0"/>
              <a:t> </a:t>
            </a:r>
            <a:r>
              <a:rPr kumimoji="1" lang="en-US" altLang="ko-KR" sz="2000" b="1" dirty="0"/>
              <a:t>-</a:t>
            </a:r>
            <a:r>
              <a:rPr kumimoji="1" lang="ko-KR" altLang="en-US" sz="1400" b="1" dirty="0"/>
              <a:t> </a:t>
            </a:r>
            <a:r>
              <a:rPr kumimoji="1" lang="en-US" altLang="ko-KR" sz="1400" b="1" dirty="0"/>
              <a:t>5</a:t>
            </a:r>
            <a:r>
              <a:rPr kumimoji="1" lang="ko-KR" altLang="en-US" sz="1400" b="1" dirty="0"/>
              <a:t>                     </a:t>
            </a:r>
            <a:r>
              <a:rPr kumimoji="1" lang="en-US" altLang="ko-KR" sz="2000" b="1" dirty="0"/>
              <a:t>/</a:t>
            </a:r>
            <a:r>
              <a:rPr kumimoji="1" lang="ko-KR" altLang="en-US" sz="2000" b="1" dirty="0"/>
              <a:t> 총 박스수량  </a:t>
            </a:r>
            <a:r>
              <a:rPr kumimoji="1" lang="en-US" altLang="ko-KR" sz="2000" b="1" dirty="0"/>
              <a:t>(</a:t>
            </a:r>
            <a:r>
              <a:rPr kumimoji="1" lang="ko-KR" altLang="en-US" sz="2000" b="1" dirty="0"/>
              <a:t> </a:t>
            </a:r>
            <a:r>
              <a:rPr kumimoji="1" lang="en-US" altLang="ko-KR" sz="2000" b="1" dirty="0"/>
              <a:t> 42 </a:t>
            </a:r>
            <a:r>
              <a:rPr kumimoji="1" lang="ko-KR" altLang="en-US" sz="2000" b="1" dirty="0"/>
              <a:t>   </a:t>
            </a:r>
            <a:r>
              <a:rPr kumimoji="1" lang="en-US" altLang="ko-KR" sz="2000" b="1" dirty="0"/>
              <a:t>BOX)</a:t>
            </a:r>
            <a:endParaRPr kumimoji="1" lang="ko-KR" altLang="en-US" sz="20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DAFCD5-D3B3-7444-98AF-3B4DFF0D1244}"/>
              </a:ext>
            </a:extLst>
          </p:cNvPr>
          <p:cNvSpPr txBox="1"/>
          <p:nvPr/>
        </p:nvSpPr>
        <p:spPr>
          <a:xfrm>
            <a:off x="1986505" y="1262637"/>
            <a:ext cx="80648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000" b="1" dirty="0"/>
              <a:t>입고예정일자 </a:t>
            </a:r>
            <a:r>
              <a:rPr kumimoji="1" lang="en-US" altLang="ko-KR" sz="2000" b="1" dirty="0"/>
              <a:t>(</a:t>
            </a:r>
            <a:r>
              <a:rPr kumimoji="1" lang="ko-KR" altLang="en-US" sz="2000" b="1" dirty="0"/>
              <a:t>   </a:t>
            </a:r>
            <a:r>
              <a:rPr kumimoji="1" lang="en-US" altLang="ko-KR" sz="2000" b="1" dirty="0"/>
              <a:t>10</a:t>
            </a:r>
            <a:r>
              <a:rPr kumimoji="1" lang="ko-KR" altLang="en-US" sz="2000" b="1" dirty="0"/>
              <a:t>월</a:t>
            </a:r>
            <a:r>
              <a:rPr kumimoji="1" lang="en-US" altLang="ko-KR" sz="2000" b="1" dirty="0"/>
              <a:t> </a:t>
            </a:r>
            <a:r>
              <a:rPr kumimoji="1" lang="ko-KR" altLang="en-US" sz="2000" b="1" dirty="0"/>
              <a:t>     </a:t>
            </a:r>
            <a:r>
              <a:rPr kumimoji="1" lang="en-US" altLang="ko-KR" sz="2000" b="1" dirty="0"/>
              <a:t>28</a:t>
            </a:r>
            <a:r>
              <a:rPr kumimoji="1" lang="ko-KR" altLang="en-US" sz="2000" b="1" dirty="0"/>
              <a:t>일  </a:t>
            </a:r>
            <a:r>
              <a:rPr kumimoji="1" lang="en-US" altLang="ko-KR" sz="2000" b="1" dirty="0"/>
              <a:t>)</a:t>
            </a:r>
            <a:r>
              <a:rPr kumimoji="1" lang="ko-KR" altLang="en-US" sz="2000" b="1" dirty="0"/>
              <a:t>   </a:t>
            </a:r>
            <a:r>
              <a:rPr kumimoji="1" lang="en-US" altLang="ko-KR" sz="2000" b="1" dirty="0"/>
              <a:t>/</a:t>
            </a:r>
            <a:r>
              <a:rPr kumimoji="1" lang="ko-KR" altLang="en-US" sz="2000" b="1" dirty="0"/>
              <a:t> 납품센터명 </a:t>
            </a:r>
            <a:r>
              <a:rPr kumimoji="1" lang="en-US" altLang="ko-KR" sz="2000" b="1" dirty="0"/>
              <a:t>(</a:t>
            </a:r>
            <a:r>
              <a:rPr kumimoji="1" lang="ko-KR" altLang="en-US" sz="2000" b="1" dirty="0"/>
              <a:t>      인천</a:t>
            </a:r>
            <a:r>
              <a:rPr kumimoji="1" lang="en-US" altLang="ko-KR" sz="2000" b="1" dirty="0"/>
              <a:t>17</a:t>
            </a:r>
            <a:r>
              <a:rPr kumimoji="1" lang="ko-KR" altLang="en-US" sz="2000" b="1" dirty="0"/>
              <a:t>  센터</a:t>
            </a:r>
            <a:r>
              <a:rPr kumimoji="1" lang="en-US" altLang="ko-KR" sz="2000" b="1" dirty="0"/>
              <a:t>)</a:t>
            </a:r>
          </a:p>
          <a:p>
            <a:r>
              <a:rPr kumimoji="1" lang="ko-KR" altLang="en-US" sz="2000" b="1" dirty="0"/>
              <a:t>업체명    </a:t>
            </a:r>
            <a:r>
              <a:rPr kumimoji="1" lang="en-US" altLang="ko-KR" sz="2000" b="1" dirty="0"/>
              <a:t>(</a:t>
            </a:r>
            <a:r>
              <a:rPr kumimoji="1" lang="ko-KR" altLang="en-US" sz="2000" b="1" dirty="0"/>
              <a:t> 주식회사 봉우리   </a:t>
            </a:r>
            <a:r>
              <a:rPr kumimoji="1" lang="en-US" altLang="ko-KR" sz="2000" b="1" dirty="0"/>
              <a:t>)	</a:t>
            </a:r>
            <a:r>
              <a:rPr kumimoji="1" lang="ko-KR" altLang="en-US" sz="2000" b="1" dirty="0"/>
              <a:t>  </a:t>
            </a:r>
            <a:r>
              <a:rPr kumimoji="1" lang="en-US" altLang="ko-KR" sz="2000" b="1" dirty="0"/>
              <a:t>/</a:t>
            </a:r>
            <a:r>
              <a:rPr kumimoji="1" lang="ko-KR" altLang="en-US" sz="2000" b="1" dirty="0"/>
              <a:t> 발주센터명 </a:t>
            </a:r>
            <a:r>
              <a:rPr kumimoji="1" lang="en-US" altLang="ko-KR" sz="2000" b="1" dirty="0"/>
              <a:t>(	</a:t>
            </a:r>
            <a:r>
              <a:rPr kumimoji="1" lang="ko-KR" altLang="en-US" sz="2000" b="1" dirty="0"/>
              <a:t> 인천</a:t>
            </a:r>
            <a:r>
              <a:rPr kumimoji="1" lang="en-US" altLang="ko-KR" sz="2000" b="1" dirty="0"/>
              <a:t>17</a:t>
            </a:r>
            <a:r>
              <a:rPr kumimoji="1" lang="ko-KR" altLang="en-US" sz="2000" b="1" dirty="0"/>
              <a:t> 센터</a:t>
            </a:r>
            <a:r>
              <a:rPr kumimoji="1" lang="en-US" altLang="ko-KR" sz="2000" b="1" dirty="0"/>
              <a:t>)</a:t>
            </a:r>
          </a:p>
          <a:p>
            <a:r>
              <a:rPr kumimoji="1" lang="ko-KR" altLang="en-US" sz="2000" b="1" dirty="0"/>
              <a:t>발주번호</a:t>
            </a:r>
            <a:r>
              <a:rPr kumimoji="1" lang="en-US" altLang="ko-KR" sz="2000" b="1" dirty="0"/>
              <a:t> </a:t>
            </a:r>
            <a:r>
              <a:rPr kumimoji="1" lang="ko-KR" altLang="en-US" sz="2000" b="1" dirty="0"/>
              <a:t>     </a:t>
            </a:r>
            <a:r>
              <a:rPr kumimoji="1" lang="en-US" altLang="ko-KR" sz="2000" b="1" dirty="0"/>
              <a:t>(145833812 / 146026283</a:t>
            </a:r>
            <a:r>
              <a:rPr lang="en-US" altLang="ko-KR" sz="2000" dirty="0"/>
              <a:t> </a:t>
            </a:r>
            <a:r>
              <a:rPr kumimoji="1" lang="en-US" altLang="ko-KR" sz="2000" b="1" dirty="0"/>
              <a:t>)</a:t>
            </a:r>
            <a:endParaRPr kumimoji="1" lang="ko-KR" altLang="en-US" sz="2000" b="1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C6D00B2A-ED2D-887D-D479-1D9FEF5F0E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2059581"/>
              </p:ext>
            </p:extLst>
          </p:nvPr>
        </p:nvGraphicFramePr>
        <p:xfrm>
          <a:off x="1986505" y="2311892"/>
          <a:ext cx="8240861" cy="28178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9948">
                  <a:extLst>
                    <a:ext uri="{9D8B030D-6E8A-4147-A177-3AD203B41FA5}">
                      <a16:colId xmlns:a16="http://schemas.microsoft.com/office/drawing/2014/main" val="195056206"/>
                    </a:ext>
                  </a:extLst>
                </a:gridCol>
                <a:gridCol w="1260829">
                  <a:extLst>
                    <a:ext uri="{9D8B030D-6E8A-4147-A177-3AD203B41FA5}">
                      <a16:colId xmlns:a16="http://schemas.microsoft.com/office/drawing/2014/main" val="3391094802"/>
                    </a:ext>
                  </a:extLst>
                </a:gridCol>
                <a:gridCol w="2573518">
                  <a:extLst>
                    <a:ext uri="{9D8B030D-6E8A-4147-A177-3AD203B41FA5}">
                      <a16:colId xmlns:a16="http://schemas.microsoft.com/office/drawing/2014/main" val="479056328"/>
                    </a:ext>
                  </a:extLst>
                </a:gridCol>
                <a:gridCol w="834471">
                  <a:extLst>
                    <a:ext uri="{9D8B030D-6E8A-4147-A177-3AD203B41FA5}">
                      <a16:colId xmlns:a16="http://schemas.microsoft.com/office/drawing/2014/main" val="2274387879"/>
                    </a:ext>
                  </a:extLst>
                </a:gridCol>
                <a:gridCol w="1256723">
                  <a:extLst>
                    <a:ext uri="{9D8B030D-6E8A-4147-A177-3AD203B41FA5}">
                      <a16:colId xmlns:a16="http://schemas.microsoft.com/office/drawing/2014/main" val="316259701"/>
                    </a:ext>
                  </a:extLst>
                </a:gridCol>
                <a:gridCol w="1735372">
                  <a:extLst>
                    <a:ext uri="{9D8B030D-6E8A-4147-A177-3AD203B41FA5}">
                      <a16:colId xmlns:a16="http://schemas.microsoft.com/office/drawing/2014/main" val="3451790099"/>
                    </a:ext>
                  </a:extLst>
                </a:gridCol>
              </a:tblGrid>
              <a:tr h="6911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SKU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SKU NAME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BOX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수량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수량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소비기한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또는 유통기한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)/</a:t>
                      </a:r>
                    </a:p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제조일자</a:t>
                      </a:r>
                      <a:endParaRPr lang="en-US" altLang="ko-KR" sz="11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8075422"/>
                  </a:ext>
                </a:extLst>
              </a:tr>
              <a:tr h="5316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27080242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로켓프레시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]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태국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남독마이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망고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1.1kg(4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입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)(S)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2026.10.28</a:t>
                      </a:r>
                      <a:endParaRPr kumimoji="1" lang="en-US" altLang="ko-KR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8696874"/>
                  </a:ext>
                </a:extLst>
              </a:tr>
              <a:tr h="5316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34302994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로켓프레시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]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태국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남독마이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 망고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900g (3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입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팩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60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2026.10.28</a:t>
                      </a:r>
                      <a:endParaRPr kumimoji="1" lang="en-US" altLang="ko-KR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239005"/>
                  </a:ext>
                </a:extLst>
              </a:tr>
              <a:tr h="5316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43530568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로켓프레시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]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태국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남독마이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망고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,1.3kg(4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입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)(L),1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개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2026.10.28</a:t>
                      </a:r>
                      <a:endParaRPr kumimoji="1" lang="en-US" altLang="ko-KR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9828398"/>
                  </a:ext>
                </a:extLst>
              </a:tr>
              <a:tr h="5316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44618723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로켓프레시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]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이웃마을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남독마이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태국망고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1.9kg(5~6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입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) 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28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28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2026.10.28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7808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2999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F3369ED6-1A1B-AF46-852A-58227CDB3486}"/>
              </a:ext>
            </a:extLst>
          </p:cNvPr>
          <p:cNvSpPr/>
          <p:nvPr/>
        </p:nvSpPr>
        <p:spPr>
          <a:xfrm>
            <a:off x="1847528" y="664956"/>
            <a:ext cx="8496944" cy="59116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69911" y="100531"/>
            <a:ext cx="90521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u="sng" dirty="0"/>
              <a:t>쿠팡 파렛트 적재리스트 </a:t>
            </a:r>
            <a:r>
              <a:rPr lang="en-US" altLang="ko-KR" sz="2400" b="1" u="sng" dirty="0"/>
              <a:t>(</a:t>
            </a:r>
            <a:r>
              <a:rPr lang="ko-KR" altLang="en-US" sz="2400" b="1" u="sng" dirty="0"/>
              <a:t>신선</a:t>
            </a:r>
            <a:r>
              <a:rPr lang="en-US" altLang="ko-KR" sz="2400" b="1" u="sng" dirty="0"/>
              <a:t>)</a:t>
            </a:r>
            <a:endParaRPr lang="ko-KR" altLang="en-US" sz="2400" b="1" u="sn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0977E7-3DB8-A84B-96D5-7B9A79DAD807}"/>
              </a:ext>
            </a:extLst>
          </p:cNvPr>
          <p:cNvSpPr txBox="1"/>
          <p:nvPr/>
        </p:nvSpPr>
        <p:spPr>
          <a:xfrm>
            <a:off x="1991544" y="815468"/>
            <a:ext cx="80648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000" b="1" dirty="0"/>
              <a:t> </a:t>
            </a:r>
            <a:r>
              <a:rPr kumimoji="1" lang="ko-KR" altLang="en-US" sz="1400" b="1" dirty="0"/>
              <a:t> </a:t>
            </a:r>
            <a:r>
              <a:rPr kumimoji="1" lang="en-US" altLang="ko-KR" sz="1400" b="1" dirty="0"/>
              <a:t>6</a:t>
            </a:r>
            <a:r>
              <a:rPr kumimoji="1" lang="ko-KR" altLang="en-US" sz="1400" b="1" dirty="0"/>
              <a:t> </a:t>
            </a:r>
            <a:r>
              <a:rPr kumimoji="1" lang="en-US" altLang="ko-KR" sz="2000" b="1" dirty="0"/>
              <a:t>-</a:t>
            </a:r>
            <a:r>
              <a:rPr kumimoji="1" lang="ko-KR" altLang="en-US" sz="1400" b="1" dirty="0"/>
              <a:t> </a:t>
            </a:r>
            <a:r>
              <a:rPr kumimoji="1" lang="en-US" altLang="ko-KR" sz="1400" b="1" dirty="0"/>
              <a:t>6</a:t>
            </a:r>
            <a:r>
              <a:rPr kumimoji="1" lang="ko-KR" altLang="en-US" sz="1400" b="1" dirty="0"/>
              <a:t>                     </a:t>
            </a:r>
            <a:r>
              <a:rPr kumimoji="1" lang="en-US" altLang="ko-KR" sz="2000" b="1" dirty="0"/>
              <a:t>/</a:t>
            </a:r>
            <a:r>
              <a:rPr kumimoji="1" lang="ko-KR" altLang="en-US" sz="2000" b="1" dirty="0"/>
              <a:t> 총 박스수량  </a:t>
            </a:r>
            <a:r>
              <a:rPr kumimoji="1" lang="en-US" altLang="ko-KR" sz="2000" b="1" dirty="0"/>
              <a:t>(</a:t>
            </a:r>
            <a:r>
              <a:rPr kumimoji="1" lang="ko-KR" altLang="en-US" sz="2000" b="1" dirty="0"/>
              <a:t> </a:t>
            </a:r>
            <a:r>
              <a:rPr kumimoji="1" lang="en-US" altLang="ko-KR" sz="2000" b="1" dirty="0"/>
              <a:t> 43 </a:t>
            </a:r>
            <a:r>
              <a:rPr kumimoji="1" lang="ko-KR" altLang="en-US" sz="2000" b="1" dirty="0"/>
              <a:t>   </a:t>
            </a:r>
            <a:r>
              <a:rPr kumimoji="1" lang="en-US" altLang="ko-KR" sz="2000" b="1" dirty="0"/>
              <a:t>BOX)</a:t>
            </a:r>
            <a:endParaRPr kumimoji="1" lang="ko-KR" altLang="en-US" sz="20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DAFCD5-D3B3-7444-98AF-3B4DFF0D1244}"/>
              </a:ext>
            </a:extLst>
          </p:cNvPr>
          <p:cNvSpPr txBox="1"/>
          <p:nvPr/>
        </p:nvSpPr>
        <p:spPr>
          <a:xfrm>
            <a:off x="1986505" y="1262637"/>
            <a:ext cx="80648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000" b="1" dirty="0"/>
              <a:t>입고예정일자 </a:t>
            </a:r>
            <a:r>
              <a:rPr kumimoji="1" lang="en-US" altLang="ko-KR" sz="2000" b="1" dirty="0"/>
              <a:t>(</a:t>
            </a:r>
            <a:r>
              <a:rPr kumimoji="1" lang="ko-KR" altLang="en-US" sz="2000" b="1" dirty="0"/>
              <a:t>   </a:t>
            </a:r>
            <a:r>
              <a:rPr kumimoji="1" lang="en-US" altLang="ko-KR" sz="2000" b="1" dirty="0"/>
              <a:t>10</a:t>
            </a:r>
            <a:r>
              <a:rPr kumimoji="1" lang="ko-KR" altLang="en-US" sz="2000" b="1" dirty="0"/>
              <a:t>월</a:t>
            </a:r>
            <a:r>
              <a:rPr kumimoji="1" lang="en-US" altLang="ko-KR" sz="2000" b="1" dirty="0"/>
              <a:t> </a:t>
            </a:r>
            <a:r>
              <a:rPr kumimoji="1" lang="ko-KR" altLang="en-US" sz="2000" b="1" dirty="0"/>
              <a:t>     </a:t>
            </a:r>
            <a:r>
              <a:rPr kumimoji="1" lang="en-US" altLang="ko-KR" sz="2000" b="1" dirty="0"/>
              <a:t>28</a:t>
            </a:r>
            <a:r>
              <a:rPr kumimoji="1" lang="ko-KR" altLang="en-US" sz="2000" b="1" dirty="0"/>
              <a:t>일  </a:t>
            </a:r>
            <a:r>
              <a:rPr kumimoji="1" lang="en-US" altLang="ko-KR" sz="2000" b="1" dirty="0"/>
              <a:t>)</a:t>
            </a:r>
            <a:r>
              <a:rPr kumimoji="1" lang="ko-KR" altLang="en-US" sz="2000" b="1" dirty="0"/>
              <a:t>   </a:t>
            </a:r>
            <a:r>
              <a:rPr kumimoji="1" lang="en-US" altLang="ko-KR" sz="2000" b="1" dirty="0"/>
              <a:t>/</a:t>
            </a:r>
            <a:r>
              <a:rPr kumimoji="1" lang="ko-KR" altLang="en-US" sz="2000" b="1" dirty="0"/>
              <a:t> 납품센터명 </a:t>
            </a:r>
            <a:r>
              <a:rPr kumimoji="1" lang="en-US" altLang="ko-KR" sz="2000" b="1" dirty="0"/>
              <a:t>(</a:t>
            </a:r>
            <a:r>
              <a:rPr kumimoji="1" lang="ko-KR" altLang="en-US" sz="2000" b="1" dirty="0"/>
              <a:t>      인천</a:t>
            </a:r>
            <a:r>
              <a:rPr kumimoji="1" lang="en-US" altLang="ko-KR" sz="2000" b="1" dirty="0"/>
              <a:t>17</a:t>
            </a:r>
            <a:r>
              <a:rPr kumimoji="1" lang="ko-KR" altLang="en-US" sz="2000" b="1" dirty="0"/>
              <a:t>  센터</a:t>
            </a:r>
            <a:r>
              <a:rPr kumimoji="1" lang="en-US" altLang="ko-KR" sz="2000" b="1" dirty="0"/>
              <a:t>)</a:t>
            </a:r>
          </a:p>
          <a:p>
            <a:r>
              <a:rPr kumimoji="1" lang="ko-KR" altLang="en-US" sz="2000" b="1" dirty="0"/>
              <a:t>업체명    </a:t>
            </a:r>
            <a:r>
              <a:rPr kumimoji="1" lang="en-US" altLang="ko-KR" sz="2000" b="1" dirty="0"/>
              <a:t>(</a:t>
            </a:r>
            <a:r>
              <a:rPr kumimoji="1" lang="ko-KR" altLang="en-US" sz="2000" b="1" dirty="0"/>
              <a:t> 주식회사 봉우리   </a:t>
            </a:r>
            <a:r>
              <a:rPr kumimoji="1" lang="en-US" altLang="ko-KR" sz="2000" b="1" dirty="0"/>
              <a:t>)	</a:t>
            </a:r>
            <a:r>
              <a:rPr kumimoji="1" lang="ko-KR" altLang="en-US" sz="2000" b="1" dirty="0"/>
              <a:t>  </a:t>
            </a:r>
            <a:r>
              <a:rPr kumimoji="1" lang="en-US" altLang="ko-KR" sz="2000" b="1" dirty="0"/>
              <a:t>/</a:t>
            </a:r>
            <a:r>
              <a:rPr kumimoji="1" lang="ko-KR" altLang="en-US" sz="2000" b="1" dirty="0"/>
              <a:t> 발주센터명 </a:t>
            </a:r>
            <a:r>
              <a:rPr kumimoji="1" lang="en-US" altLang="ko-KR" sz="2000" b="1" dirty="0"/>
              <a:t>(	</a:t>
            </a:r>
            <a:r>
              <a:rPr kumimoji="1" lang="ko-KR" altLang="en-US" sz="2000" b="1" dirty="0"/>
              <a:t> 인천</a:t>
            </a:r>
            <a:r>
              <a:rPr kumimoji="1" lang="en-US" altLang="ko-KR" sz="2000" b="1" dirty="0"/>
              <a:t>17</a:t>
            </a:r>
            <a:r>
              <a:rPr kumimoji="1" lang="ko-KR" altLang="en-US" sz="2000" b="1" dirty="0"/>
              <a:t> 센터</a:t>
            </a:r>
            <a:r>
              <a:rPr kumimoji="1" lang="en-US" altLang="ko-KR" sz="2000" b="1" dirty="0"/>
              <a:t>)</a:t>
            </a:r>
          </a:p>
          <a:p>
            <a:r>
              <a:rPr kumimoji="1" lang="ko-KR" altLang="en-US" sz="2000" b="1" dirty="0"/>
              <a:t>발주번호</a:t>
            </a:r>
            <a:r>
              <a:rPr kumimoji="1" lang="en-US" altLang="ko-KR" sz="2000" b="1" dirty="0"/>
              <a:t> </a:t>
            </a:r>
            <a:r>
              <a:rPr kumimoji="1" lang="ko-KR" altLang="en-US" sz="2000" b="1" dirty="0"/>
              <a:t>     </a:t>
            </a:r>
            <a:r>
              <a:rPr kumimoji="1" lang="en-US" altLang="ko-KR" sz="2000" b="1" dirty="0"/>
              <a:t>(145833812 / 146026283</a:t>
            </a:r>
            <a:r>
              <a:rPr lang="en-US" altLang="ko-KR" sz="2000" dirty="0"/>
              <a:t> </a:t>
            </a:r>
            <a:r>
              <a:rPr kumimoji="1" lang="en-US" altLang="ko-KR" sz="2000" b="1" dirty="0"/>
              <a:t>)</a:t>
            </a:r>
            <a:endParaRPr kumimoji="1" lang="ko-KR" altLang="en-US" sz="2000" b="1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C6D00B2A-ED2D-887D-D479-1D9FEF5F0E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1626193"/>
              </p:ext>
            </p:extLst>
          </p:nvPr>
        </p:nvGraphicFramePr>
        <p:xfrm>
          <a:off x="1986505" y="2311892"/>
          <a:ext cx="8240861" cy="28178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9948">
                  <a:extLst>
                    <a:ext uri="{9D8B030D-6E8A-4147-A177-3AD203B41FA5}">
                      <a16:colId xmlns:a16="http://schemas.microsoft.com/office/drawing/2014/main" val="195056206"/>
                    </a:ext>
                  </a:extLst>
                </a:gridCol>
                <a:gridCol w="1260829">
                  <a:extLst>
                    <a:ext uri="{9D8B030D-6E8A-4147-A177-3AD203B41FA5}">
                      <a16:colId xmlns:a16="http://schemas.microsoft.com/office/drawing/2014/main" val="3391094802"/>
                    </a:ext>
                  </a:extLst>
                </a:gridCol>
                <a:gridCol w="2573518">
                  <a:extLst>
                    <a:ext uri="{9D8B030D-6E8A-4147-A177-3AD203B41FA5}">
                      <a16:colId xmlns:a16="http://schemas.microsoft.com/office/drawing/2014/main" val="479056328"/>
                    </a:ext>
                  </a:extLst>
                </a:gridCol>
                <a:gridCol w="834471">
                  <a:extLst>
                    <a:ext uri="{9D8B030D-6E8A-4147-A177-3AD203B41FA5}">
                      <a16:colId xmlns:a16="http://schemas.microsoft.com/office/drawing/2014/main" val="2274387879"/>
                    </a:ext>
                  </a:extLst>
                </a:gridCol>
                <a:gridCol w="1256723">
                  <a:extLst>
                    <a:ext uri="{9D8B030D-6E8A-4147-A177-3AD203B41FA5}">
                      <a16:colId xmlns:a16="http://schemas.microsoft.com/office/drawing/2014/main" val="316259701"/>
                    </a:ext>
                  </a:extLst>
                </a:gridCol>
                <a:gridCol w="1735372">
                  <a:extLst>
                    <a:ext uri="{9D8B030D-6E8A-4147-A177-3AD203B41FA5}">
                      <a16:colId xmlns:a16="http://schemas.microsoft.com/office/drawing/2014/main" val="3451790099"/>
                    </a:ext>
                  </a:extLst>
                </a:gridCol>
              </a:tblGrid>
              <a:tr h="6911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SKU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SKU NAME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BOX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수량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수량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소비기한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또는 유통기한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)/</a:t>
                      </a:r>
                    </a:p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제조일자</a:t>
                      </a:r>
                      <a:endParaRPr lang="en-US" altLang="ko-KR" sz="11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8075422"/>
                  </a:ext>
                </a:extLst>
              </a:tr>
              <a:tr h="5316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44618715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로켓프레시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]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이웃마을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남독마이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태국망고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2.4kg(6~7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입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) 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2026.10.28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7960307"/>
                  </a:ext>
                </a:extLst>
              </a:tr>
              <a:tr h="5316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44618725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ko-KR" altLang="en-US" sz="1200" dirty="0" err="1"/>
                        <a:t>로켓프레시</a:t>
                      </a:r>
                      <a:r>
                        <a:rPr lang="en-US" altLang="ko-KR" sz="1200" dirty="0"/>
                        <a:t>]</a:t>
                      </a:r>
                      <a:r>
                        <a:rPr lang="ko-KR" altLang="en-US" sz="1200" dirty="0"/>
                        <a:t>이웃마을 </a:t>
                      </a:r>
                      <a:r>
                        <a:rPr lang="ko-KR" altLang="en-US" sz="1200" dirty="0" err="1"/>
                        <a:t>남독마이</a:t>
                      </a:r>
                      <a:r>
                        <a:rPr lang="ko-KR" altLang="en-US" sz="1200" dirty="0"/>
                        <a:t> </a:t>
                      </a:r>
                      <a:r>
                        <a:rPr lang="ko-KR" altLang="en-US" sz="1200" dirty="0" err="1"/>
                        <a:t>태국망고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4.7kg(10~12</a:t>
                      </a:r>
                      <a:r>
                        <a:rPr lang="ko-KR" altLang="en-US" sz="1200" dirty="0"/>
                        <a:t>입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2026.10.28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1162661"/>
                  </a:ext>
                </a:extLst>
              </a:tr>
              <a:tr h="5316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72490563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ko-KR" altLang="en-US" sz="1200" dirty="0" err="1"/>
                        <a:t>로켓프레시</a:t>
                      </a:r>
                      <a:r>
                        <a:rPr lang="en-US" altLang="ko-KR" sz="1200" dirty="0"/>
                        <a:t>] </a:t>
                      </a:r>
                      <a:r>
                        <a:rPr lang="ko-KR" altLang="en-US" sz="1200" dirty="0"/>
                        <a:t>이웃마을 브라질산 </a:t>
                      </a:r>
                      <a:r>
                        <a:rPr lang="ko-KR" altLang="en-US" sz="1200" dirty="0" err="1"/>
                        <a:t>애플망고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3.8kg 8-10</a:t>
                      </a:r>
                      <a:r>
                        <a:rPr lang="ko-KR" altLang="en-US" sz="1200" dirty="0"/>
                        <a:t>입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2026.10.28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4586274"/>
                  </a:ext>
                </a:extLst>
              </a:tr>
              <a:tr h="5316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72490567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ko-KR" altLang="en-US" sz="1200" dirty="0" err="1"/>
                        <a:t>로켓프레시</a:t>
                      </a:r>
                      <a:r>
                        <a:rPr lang="en-US" altLang="ko-KR" sz="1200" dirty="0"/>
                        <a:t>] </a:t>
                      </a:r>
                      <a:r>
                        <a:rPr lang="ko-KR" altLang="en-US" sz="1200" dirty="0"/>
                        <a:t>이웃마을 브라질산 </a:t>
                      </a:r>
                      <a:r>
                        <a:rPr lang="ko-KR" altLang="en-US" sz="1200" dirty="0" err="1"/>
                        <a:t>애플망고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/>
                        <a:t>2.4kg 5-6</a:t>
                      </a:r>
                      <a:r>
                        <a:rPr lang="ko-KR" altLang="en-US" sz="1200"/>
                        <a:t>입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2026.10.28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11631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32215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e381b734-1823-428e-b7d9-02e4ba72fc83}" enabled="1" method="Privileged" siteId="{e3098f96-361b-47c6-a9f4-ab7bafcaffe9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1284</TotalTime>
  <Words>627</Words>
  <Application>Microsoft Office PowerPoint</Application>
  <PresentationFormat>와이드스크린</PresentationFormat>
  <Paragraphs>157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Myung Sup Shin [ICQA]</dc:creator>
  <cp:lastModifiedBy>봉섭 심</cp:lastModifiedBy>
  <cp:revision>161</cp:revision>
  <cp:lastPrinted>2025-11-12T00:16:01Z</cp:lastPrinted>
  <dcterms:created xsi:type="dcterms:W3CDTF">2018-05-21T02:12:11Z</dcterms:created>
  <dcterms:modified xsi:type="dcterms:W3CDTF">2026-10-27T01:59:39Z</dcterms:modified>
</cp:coreProperties>
</file>